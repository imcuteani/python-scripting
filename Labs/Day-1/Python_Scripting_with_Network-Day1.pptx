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58" r:id="rId4"/>
    <p:sldId id="259" r:id="rId5"/>
    <p:sldId id="260"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84" r:id="rId20"/>
    <p:sldId id="285" r:id="rId21"/>
    <p:sldId id="286"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5/18/26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ke9xSWJCWX8?list=PL2Uw4_HvXqvYg5fYUg9tzVrY3zCT7W7Y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Overview of Python </a:t>
            </a:r>
          </a:p>
          <a:p>
            <a:pPr>
              <a:lnSpc>
                <a:spcPct val="100000"/>
              </a:lnSpc>
            </a:pPr>
            <a:r>
              <a:rPr lang="en-US" sz="2200" dirty="0"/>
              <a:t>Object Oriented Programming (OOPs) Concepts</a:t>
            </a:r>
          </a:p>
          <a:p>
            <a:r>
              <a:rPr lang="en-US" sz="2200" dirty="0"/>
              <a:t>Python Installation</a:t>
            </a:r>
          </a:p>
          <a:p>
            <a:r>
              <a:rPr lang="en-US" sz="2200" dirty="0"/>
              <a:t>Python Data Types</a:t>
            </a:r>
            <a:endParaRPr lang="en-US" dirty="0"/>
          </a:p>
          <a:p>
            <a:r>
              <a:rPr lang="en-US" sz="2200" dirty="0">
                <a:ea typeface="Calibri" panose="020F0502020204030204"/>
                <a:cs typeface="Calibri" panose="020F0502020204030204"/>
              </a:rPr>
              <a:t>Variables in Python</a:t>
            </a:r>
          </a:p>
          <a:p>
            <a:r>
              <a:rPr lang="en-US" sz="2200" dirty="0">
                <a:ea typeface="Calibri" panose="020F0502020204030204"/>
                <a:cs typeface="Calibri" panose="020F0502020204030204"/>
              </a:rPr>
              <a:t>Operators in Python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Python Loops</a:t>
            </a:r>
            <a:endParaRPr lang="en-US" dirty="0">
              <a:ea typeface="Calibri" panose="020F0502020204030204"/>
              <a:cs typeface="Calibri" panose="020F0502020204030204"/>
            </a:endParaRPr>
          </a:p>
          <a:p>
            <a:r>
              <a:rPr lang="en-US" sz="2200" dirty="0">
                <a:ea typeface="Calibri" panose="020F0502020204030204"/>
                <a:cs typeface="Calibri" panose="020F0502020204030204"/>
              </a:rPr>
              <a:t>Conditional statements</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Overview of Python</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659220" y="1584252"/>
            <a:ext cx="10681850" cy="4713884"/>
          </a:xfrm>
        </p:spPr>
        <p:txBody>
          <a:bodyPr anchor="ctr">
            <a:normAutofit/>
          </a:bodyPr>
          <a:lstStyle/>
          <a:p>
            <a:r>
              <a:rPr lang="en-IN" sz="1300" dirty="0"/>
              <a:t>Python is a versatile and powerful programming language that has become essential for network engineers. Whether you’re new to networking or an experienced professional, Python offers numerous benefits for network-related tasks. Let’s explore the key aspects of Python for network engineering</a:t>
            </a:r>
            <a:r>
              <a:rPr lang="en-IN" dirty="0"/>
              <a:t>.</a:t>
            </a:r>
            <a:endParaRPr lang="en-US" sz="1600" dirty="0">
              <a:ea typeface="Calibri"/>
              <a:cs typeface="Calibri"/>
            </a:endParaRPr>
          </a:p>
          <a:p>
            <a:r>
              <a:rPr lang="en-US" sz="1600" b="1" dirty="0">
                <a:solidFill>
                  <a:srgbClr val="001D35"/>
                </a:solidFill>
                <a:highlight>
                  <a:srgbClr val="FFFFFF"/>
                </a:highlight>
                <a:ea typeface="+mn-lt"/>
                <a:cs typeface="+mn-lt"/>
              </a:rPr>
              <a:t>Python for Network Automation</a:t>
            </a:r>
          </a:p>
          <a:p>
            <a:r>
              <a:rPr lang="en-US" sz="1500" b="1" dirty="0">
                <a:solidFill>
                  <a:srgbClr val="001D35"/>
                </a:solidFill>
                <a:highlight>
                  <a:srgbClr val="FFFFFF"/>
                </a:highlight>
                <a:ea typeface="+mn-lt"/>
                <a:cs typeface="+mn-lt"/>
              </a:rPr>
              <a:t>Network Automation - </a:t>
            </a:r>
            <a:r>
              <a:rPr lang="en-IN" sz="1200" dirty="0"/>
              <a:t>Python helps network engineers automate repetitive tasks such as making configuration changes, creating backups, and monitoring networks</a:t>
            </a:r>
            <a:r>
              <a:rPr lang="en-IN" dirty="0"/>
              <a:t>.</a:t>
            </a:r>
            <a:endParaRPr lang="en-US" sz="1600" dirty="0">
              <a:ea typeface="Calibri"/>
              <a:cs typeface="Calibri"/>
            </a:endParaRPr>
          </a:p>
          <a:p>
            <a:r>
              <a:rPr lang="en-US" sz="1600" b="1" dirty="0">
                <a:ea typeface="Calibri"/>
                <a:cs typeface="Calibri"/>
              </a:rPr>
              <a:t>Configuration Management </a:t>
            </a:r>
            <a:r>
              <a:rPr lang="en-US" sz="1600" dirty="0">
                <a:ea typeface="Calibri"/>
                <a:cs typeface="Calibri"/>
              </a:rPr>
              <a:t>– </a:t>
            </a:r>
            <a:r>
              <a:rPr lang="en-US" sz="1200" dirty="0">
                <a:ea typeface="Calibri"/>
                <a:cs typeface="Calibri"/>
              </a:rPr>
              <a:t>Python based tools like Ansible, NAPALM, </a:t>
            </a:r>
            <a:r>
              <a:rPr lang="en-US" sz="1200" dirty="0" err="1">
                <a:ea typeface="Calibri"/>
                <a:cs typeface="Calibri"/>
              </a:rPr>
              <a:t>Netmiko</a:t>
            </a:r>
            <a:r>
              <a:rPr lang="en-US" sz="1200" dirty="0">
                <a:ea typeface="Calibri"/>
                <a:cs typeface="Calibri"/>
              </a:rPr>
              <a:t> are widely used for configuration management. </a:t>
            </a:r>
          </a:p>
          <a:p>
            <a:r>
              <a:rPr lang="en-US" sz="1600" b="1" dirty="0">
                <a:cs typeface="Calibri"/>
              </a:rPr>
              <a:t>Monitoring &amp; Troubleshooting </a:t>
            </a:r>
            <a:r>
              <a:rPr lang="en-US" sz="1200" dirty="0">
                <a:ea typeface="Calibri"/>
                <a:cs typeface="Calibri"/>
              </a:rPr>
              <a:t>– Python allows network engineers to create custom tools for monitoring and troubleshooting ensuring smooth health of network. </a:t>
            </a:r>
          </a:p>
          <a:p>
            <a:r>
              <a:rPr lang="en-US" sz="1600" b="1" dirty="0">
                <a:cs typeface="Calibri"/>
              </a:rPr>
              <a:t>Network Security </a:t>
            </a:r>
            <a:r>
              <a:rPr lang="en-US" sz="1200" dirty="0">
                <a:ea typeface="Calibri"/>
                <a:cs typeface="Calibri"/>
              </a:rPr>
              <a:t>– Python allows implementing strong security policies, analyzing network traffic, responding to security incidents. </a:t>
            </a:r>
          </a:p>
          <a:p>
            <a:r>
              <a:rPr lang="en-US" sz="1600" b="1" dirty="0">
                <a:cs typeface="Calibri"/>
              </a:rPr>
              <a:t>Cross –platform Compatibility </a:t>
            </a:r>
            <a:r>
              <a:rPr lang="en-US" sz="1200" dirty="0">
                <a:ea typeface="Calibri"/>
                <a:cs typeface="Calibri"/>
              </a:rPr>
              <a:t>– Python involves various OS and devices, streamlining operations,  improve network efficiency and enhance security.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latin typeface="+mj-lt"/>
                <a:ea typeface="+mj-ea"/>
                <a:cs typeface="+mj-cs"/>
              </a:rPr>
              <a:t>Python Benefits</a:t>
            </a: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084EE8-8FB6-B7FF-F1EF-3E997F515E65}"/>
              </a:ext>
            </a:extLst>
          </p:cNvPr>
          <p:cNvSpPr txBox="1"/>
          <p:nvPr/>
        </p:nvSpPr>
        <p:spPr>
          <a:xfrm>
            <a:off x="7219156" y="1904214"/>
            <a:ext cx="437388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ea typeface="Calibri" panose="020F0502020204030204"/>
                <a:cs typeface="Calibri" panose="020F0502020204030204"/>
              </a:rPr>
              <a:t>Massive Library Ecosystem</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Netmiko</a:t>
            </a:r>
            <a:r>
              <a:rPr lang="en-US" dirty="0">
                <a:ea typeface="Calibri" panose="020F0502020204030204"/>
                <a:cs typeface="Calibri" panose="020F0502020204030204"/>
              </a:rPr>
              <a:t> – Simplifies SSH connections for network devices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Paramiko</a:t>
            </a:r>
            <a:r>
              <a:rPr lang="en-US" dirty="0">
                <a:ea typeface="Calibri" panose="020F0502020204030204"/>
                <a:cs typeface="Calibri" panose="020F0502020204030204"/>
              </a:rPr>
              <a:t> – A low level library for SSH V2 protocol support</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NAPALM – provides a unified API to interact with different OS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Scapy</a:t>
            </a:r>
            <a:r>
              <a:rPr lang="en-US" dirty="0">
                <a:ea typeface="Calibri" panose="020F0502020204030204"/>
                <a:cs typeface="Calibri" panose="020F0502020204030204"/>
              </a:rPr>
              <a:t> – Powerful tool for packet manipulation, sniffing/forging. </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Low level socket support – building custom clients &amp; servers and protocols like HTTP, FTP, TCP.</a:t>
            </a:r>
          </a:p>
        </p:txBody>
      </p:sp>
      <p:pic>
        <p:nvPicPr>
          <p:cNvPr id="6" name="Online Media 5" descr="PyCon US 2026 Tutorial Sneak Peek: &quot;Python for Absolute Beginners&quot; - Al Sweigart">
            <a:hlinkClick r:id="" action="ppaction://media"/>
            <a:extLst>
              <a:ext uri="{FF2B5EF4-FFF2-40B4-BE49-F238E27FC236}">
                <a16:creationId xmlns:a16="http://schemas.microsoft.com/office/drawing/2014/main" id="{6C50A72A-FEC8-A6A5-329B-D870E8DB629F}"/>
              </a:ext>
            </a:extLst>
          </p:cNvPr>
          <p:cNvPicPr>
            <a:picLocks noGrp="1" noRot="1" noChangeAspect="1"/>
          </p:cNvPicPr>
          <p:nvPr>
            <p:ph idx="1"/>
            <a:videoFile r:link="rId1"/>
          </p:nvPr>
        </p:nvPicPr>
        <p:blipFill>
          <a:blip r:embed="rId3"/>
          <a:stretch>
            <a:fillRect/>
          </a:stretch>
        </p:blipFill>
        <p:spPr>
          <a:xfrm>
            <a:off x="2246313" y="1825625"/>
            <a:ext cx="4373880" cy="2471409"/>
          </a:xfrm>
          <a:prstGeom prst="rect">
            <a:avLst/>
          </a:prstGeom>
        </p:spPr>
      </p:pic>
    </p:spTree>
    <p:extLst>
      <p:ext uri="{BB962C8B-B14F-4D97-AF65-F5344CB8AC3E}">
        <p14:creationId xmlns:p14="http://schemas.microsoft.com/office/powerpoint/2010/main" val="283359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dirty="0">
                <a:solidFill>
                  <a:schemeClr val="tx1">
                    <a:lumMod val="85000"/>
                    <a:lumOff val="15000"/>
                  </a:schemeClr>
                </a:solidFill>
                <a:ea typeface="Calibri Light"/>
                <a:cs typeface="Calibri Light"/>
              </a:rPr>
              <a:t>Object Oriented Programming(OOPS) Concepts </a:t>
            </a: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138478" y="2029199"/>
            <a:ext cx="10302155" cy="3722597"/>
          </a:xfrm>
        </p:spPr>
        <p:txBody>
          <a:bodyPr anchor="ctr">
            <a:normAutofit/>
          </a:bodyPr>
          <a:lstStyle/>
          <a:p>
            <a:r>
              <a:rPr lang="en-US" sz="1600" dirty="0">
                <a:solidFill>
                  <a:srgbClr val="0A0A0A"/>
                </a:solidFill>
                <a:highlight>
                  <a:srgbClr val="FFFFFF"/>
                </a:highlight>
                <a:ea typeface="Calibri"/>
                <a:cs typeface="Calibri"/>
              </a:rPr>
              <a:t>OOPs in Python is a paradigm which organizes the software design around objects, real world entities with specific data &amp; objects. </a:t>
            </a:r>
          </a:p>
          <a:p>
            <a:endParaRPr lang="en-US" sz="1600" dirty="0">
              <a:solidFill>
                <a:srgbClr val="0A0A0A"/>
              </a:solidFill>
              <a:highlight>
                <a:srgbClr val="FFFFFF"/>
              </a:highlight>
              <a:ea typeface="Calibri"/>
              <a:cs typeface="Calibri"/>
            </a:endParaRPr>
          </a:p>
          <a:p>
            <a:r>
              <a:rPr lang="en-US" sz="1600" b="1" dirty="0">
                <a:solidFill>
                  <a:srgbClr val="0A0A0A"/>
                </a:solidFill>
                <a:highlight>
                  <a:srgbClr val="FFFFFF"/>
                </a:highlight>
                <a:ea typeface="Calibri"/>
                <a:cs typeface="Calibri"/>
              </a:rPr>
              <a:t>Inheritance</a:t>
            </a:r>
            <a:r>
              <a:rPr lang="en-US" sz="1600" dirty="0">
                <a:solidFill>
                  <a:srgbClr val="0A0A0A"/>
                </a:solidFill>
                <a:highlight>
                  <a:srgbClr val="FFFFFF"/>
                </a:highlight>
                <a:ea typeface="Calibri"/>
                <a:cs typeface="Calibri"/>
              </a:rPr>
              <a:t> - </a:t>
            </a:r>
            <a:r>
              <a:rPr lang="en-IN" sz="1600" dirty="0"/>
              <a:t>Allows a "child" class to derive attributes and methods from a "parent" class, promoting code reusability</a:t>
            </a:r>
            <a:r>
              <a:rPr lang="en-IN" dirty="0"/>
              <a:t>.</a:t>
            </a:r>
            <a:r>
              <a:rPr lang="en-US" sz="1600" dirty="0">
                <a:solidFill>
                  <a:srgbClr val="0A0A0A"/>
                </a:solidFill>
                <a:highlight>
                  <a:srgbClr val="FFFFFF"/>
                </a:highlight>
                <a:ea typeface="Calibri"/>
                <a:cs typeface="Calibri"/>
              </a:rPr>
              <a:t> </a:t>
            </a:r>
          </a:p>
          <a:p>
            <a:r>
              <a:rPr lang="en-IN" sz="1600" b="1" dirty="0"/>
              <a:t>Encapsulation</a:t>
            </a:r>
            <a:r>
              <a:rPr lang="en-IN" sz="1600" dirty="0"/>
              <a:t>: Bundles data and methods into a single unit (the class) and restricts direct access to some components to protect the internal state</a:t>
            </a:r>
            <a:r>
              <a:rPr lang="en-IN" dirty="0"/>
              <a:t>.</a:t>
            </a:r>
          </a:p>
          <a:p>
            <a:r>
              <a:rPr lang="en-IN" sz="1600" b="1" dirty="0"/>
              <a:t>Polymorphism</a:t>
            </a:r>
            <a:r>
              <a:rPr lang="en-IN" sz="1600" dirty="0"/>
              <a:t> – Enables different classes to be treated as an instance of same general class through same interface. </a:t>
            </a:r>
          </a:p>
          <a:p>
            <a:r>
              <a:rPr lang="en-IN" sz="1600" b="1" dirty="0"/>
              <a:t>Abstraction</a:t>
            </a:r>
            <a:r>
              <a:rPr lang="en-IN" sz="1600" dirty="0"/>
              <a:t> – Hides complex implementation details &amp; shows only the essential features to the user </a:t>
            </a:r>
          </a:p>
          <a:p>
            <a:endParaRPr lang="en-US" sz="1600" dirty="0">
              <a:solidFill>
                <a:srgbClr val="0A0A0A"/>
              </a:solidFill>
              <a:highlight>
                <a:srgbClr val="FFFFFF"/>
              </a:highlight>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dirty="0">
                <a:ea typeface="Calibri Light"/>
                <a:cs typeface="Calibri Light"/>
              </a:rPr>
              <a:t>OOPs with Python</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196943"/>
            <a:ext cx="10587098" cy="4042016"/>
          </a:xfrm>
        </p:spPr>
        <p:txBody>
          <a:bodyPr anchor="ctr">
            <a:normAutofit/>
          </a:bodyPr>
          <a:lstStyle/>
          <a:p>
            <a:r>
              <a:rPr lang="en-US" sz="1600" dirty="0">
                <a:solidFill>
                  <a:schemeClr val="tx1">
                    <a:lumMod val="85000"/>
                    <a:lumOff val="15000"/>
                  </a:schemeClr>
                </a:solidFill>
                <a:ea typeface="Calibri"/>
                <a:cs typeface="Calibri"/>
              </a:rPr>
              <a:t>The building blocks of Object-oriented programming are classes and objects.</a:t>
            </a:r>
          </a:p>
          <a:p>
            <a:r>
              <a:rPr lang="en-US" sz="1600" b="1" dirty="0">
                <a:solidFill>
                  <a:schemeClr val="tx1">
                    <a:lumMod val="85000"/>
                    <a:lumOff val="15000"/>
                  </a:schemeClr>
                </a:solidFill>
                <a:ea typeface="Calibri"/>
                <a:cs typeface="Calibri"/>
              </a:rPr>
              <a:t>Classes</a:t>
            </a:r>
            <a:r>
              <a:rPr lang="en-US" sz="1600" dirty="0">
                <a:solidFill>
                  <a:schemeClr val="tx1">
                    <a:lumMod val="85000"/>
                    <a:lumOff val="15000"/>
                  </a:schemeClr>
                </a:solidFill>
                <a:ea typeface="Calibri"/>
                <a:cs typeface="Calibri"/>
              </a:rPr>
              <a:t> – A blueprint or template for creating objects. It defines the attributes and methods. </a:t>
            </a:r>
          </a:p>
          <a:p>
            <a:r>
              <a:rPr lang="en-US" sz="1600" b="1" dirty="0">
                <a:solidFill>
                  <a:schemeClr val="tx1">
                    <a:lumMod val="85000"/>
                    <a:lumOff val="15000"/>
                  </a:schemeClr>
                </a:solidFill>
                <a:ea typeface="Calibri"/>
                <a:cs typeface="Calibri"/>
              </a:rPr>
              <a:t>Objects</a:t>
            </a:r>
            <a:r>
              <a:rPr lang="en-US" sz="1600" dirty="0">
                <a:solidFill>
                  <a:schemeClr val="tx1">
                    <a:lumMod val="85000"/>
                    <a:lumOff val="15000"/>
                  </a:schemeClr>
                </a:solidFill>
                <a:ea typeface="Calibri"/>
                <a:cs typeface="Calibri"/>
              </a:rPr>
              <a:t> – A specific instance of a class, If “Router” is the class, you specified “cisco” is the object. </a:t>
            </a:r>
          </a:p>
          <a:p>
            <a:r>
              <a:rPr lang="en-US" sz="1600" b="1" dirty="0">
                <a:solidFill>
                  <a:schemeClr val="tx1">
                    <a:lumMod val="85000"/>
                    <a:lumOff val="15000"/>
                  </a:schemeClr>
                </a:solidFill>
                <a:ea typeface="Calibri"/>
                <a:cs typeface="Calibri"/>
              </a:rPr>
              <a:t>Methods</a:t>
            </a:r>
            <a:r>
              <a:rPr lang="en-US" sz="1600" dirty="0">
                <a:solidFill>
                  <a:schemeClr val="tx1">
                    <a:lumMod val="85000"/>
                    <a:lumOff val="15000"/>
                  </a:schemeClr>
                </a:solidFill>
                <a:ea typeface="Calibri"/>
                <a:cs typeface="Calibri"/>
              </a:rPr>
              <a:t> – Functions defined inside a class which defines the actions an object can perform. </a:t>
            </a:r>
          </a:p>
          <a:p>
            <a:r>
              <a:rPr lang="en-US" sz="1600" b="1" dirty="0">
                <a:solidFill>
                  <a:schemeClr val="tx1">
                    <a:lumMod val="85000"/>
                    <a:lumOff val="15000"/>
                  </a:schemeClr>
                </a:solidFill>
                <a:ea typeface="Calibri"/>
                <a:cs typeface="Calibri"/>
              </a:rPr>
              <a:t>Attributes</a:t>
            </a:r>
            <a:r>
              <a:rPr lang="en-US" sz="1600" dirty="0">
                <a:solidFill>
                  <a:schemeClr val="tx1">
                    <a:lumMod val="85000"/>
                    <a:lumOff val="15000"/>
                  </a:schemeClr>
                </a:solidFill>
                <a:ea typeface="Calibri"/>
                <a:cs typeface="Calibri"/>
              </a:rPr>
              <a:t> – Variables which hold data specific to the class (class attributes) or instance attributes.  </a:t>
            </a: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19FA-8109-E306-2BD0-50DBE1E0CB40}"/>
              </a:ext>
            </a:extLst>
          </p:cNvPr>
          <p:cNvSpPr>
            <a:spLocks noGrp="1"/>
          </p:cNvSpPr>
          <p:nvPr>
            <p:ph type="title"/>
          </p:nvPr>
        </p:nvSpPr>
        <p:spPr/>
        <p:txBody>
          <a:bodyPr/>
          <a:lstStyle/>
          <a:p>
            <a:r>
              <a:rPr lang="en-US" dirty="0">
                <a:ea typeface="Calibri Light"/>
                <a:cs typeface="Calibri Light"/>
              </a:rPr>
              <a:t>Python Installation</a:t>
            </a:r>
          </a:p>
        </p:txBody>
      </p:sp>
      <p:sp>
        <p:nvSpPr>
          <p:cNvPr id="3" name="Content Placeholder 2">
            <a:extLst>
              <a:ext uri="{FF2B5EF4-FFF2-40B4-BE49-F238E27FC236}">
                <a16:creationId xmlns:a16="http://schemas.microsoft.com/office/drawing/2014/main" id="{3C821F84-A5E5-58E7-F8CB-8C7FD76B76B8}"/>
              </a:ext>
            </a:extLst>
          </p:cNvPr>
          <p:cNvSpPr>
            <a:spLocks noGrp="1"/>
          </p:cNvSpPr>
          <p:nvPr>
            <p:ph idx="1"/>
          </p:nvPr>
        </p:nvSpPr>
        <p:spPr>
          <a:xfrm>
            <a:off x="838200" y="1825625"/>
            <a:ext cx="10688128" cy="4351338"/>
          </a:xfrm>
        </p:spPr>
        <p:txBody>
          <a:bodyPr vert="horz" lIns="91440" tIns="45720" rIns="91440" bIns="45720" rtlCol="0" anchor="t">
            <a:normAutofit/>
          </a:bodyPr>
          <a:lstStyle/>
          <a:p>
            <a:r>
              <a:rPr lang="en-US" sz="1600" dirty="0">
                <a:solidFill>
                  <a:schemeClr val="tx1">
                    <a:lumMod val="85000"/>
                    <a:lumOff val="15000"/>
                  </a:schemeClr>
                </a:solidFill>
                <a:ea typeface="Calibri"/>
                <a:cs typeface="Calibri"/>
              </a:rPr>
              <a:t>Pip is the package installer for Python. You can use pip to install packages from python package index and other repositories. </a:t>
            </a:r>
          </a:p>
          <a:p>
            <a:endParaRPr lang="en-US" sz="1600" dirty="0">
              <a:solidFill>
                <a:schemeClr val="tx1">
                  <a:lumMod val="85000"/>
                  <a:lumOff val="15000"/>
                </a:schemeClr>
              </a:solidFill>
              <a:ea typeface="Calibri"/>
              <a:cs typeface="Calibri"/>
            </a:endParaRPr>
          </a:p>
          <a:p>
            <a:r>
              <a:rPr lang="en-US" sz="1800" b="1" dirty="0">
                <a:solidFill>
                  <a:schemeClr val="tx1">
                    <a:lumMod val="85000"/>
                    <a:lumOff val="15000"/>
                  </a:schemeClr>
                </a:solidFill>
                <a:ea typeface="Calibri"/>
                <a:cs typeface="Calibri"/>
              </a:rPr>
              <a:t>Installation</a:t>
            </a:r>
          </a:p>
          <a:p>
            <a:r>
              <a:rPr lang="en-US" sz="1600" dirty="0">
                <a:solidFill>
                  <a:schemeClr val="tx1">
                    <a:lumMod val="85000"/>
                    <a:lumOff val="15000"/>
                  </a:schemeClr>
                </a:solidFill>
                <a:ea typeface="Calibri"/>
                <a:cs typeface="Calibri"/>
              </a:rPr>
              <a:t>Working in a virtual environment</a:t>
            </a:r>
          </a:p>
          <a:p>
            <a:r>
              <a:rPr lang="en-US" sz="1600" dirty="0">
                <a:solidFill>
                  <a:schemeClr val="tx1">
                    <a:lumMod val="85000"/>
                    <a:lumOff val="15000"/>
                  </a:schemeClr>
                </a:solidFill>
                <a:ea typeface="Calibri"/>
                <a:cs typeface="Calibri"/>
              </a:rPr>
              <a:t>Using Python downloaded from </a:t>
            </a:r>
            <a:r>
              <a:rPr lang="en-US" sz="1600" dirty="0" err="1">
                <a:solidFill>
                  <a:schemeClr val="tx1">
                    <a:lumMod val="85000"/>
                    <a:lumOff val="15000"/>
                  </a:schemeClr>
                </a:solidFill>
                <a:ea typeface="Calibri"/>
                <a:cs typeface="Calibri"/>
              </a:rPr>
              <a:t>python.org</a:t>
            </a:r>
            <a:endParaRPr lang="en-US" sz="1600" dirty="0">
              <a:solidFill>
                <a:schemeClr val="tx1">
                  <a:lumMod val="85000"/>
                  <a:lumOff val="15000"/>
                </a:schemeClr>
              </a:solidFill>
              <a:ea typeface="Calibri"/>
              <a:cs typeface="Calibri"/>
            </a:endParaRPr>
          </a:p>
          <a:p>
            <a:r>
              <a:rPr lang="en-US" sz="1600" dirty="0">
                <a:solidFill>
                  <a:schemeClr val="tx1">
                    <a:lumMod val="85000"/>
                    <a:lumOff val="15000"/>
                  </a:schemeClr>
                </a:solidFill>
                <a:ea typeface="Calibri"/>
                <a:cs typeface="Calibri"/>
              </a:rPr>
              <a:t>Using Python which has not been modified by a redistributor to remove </a:t>
            </a:r>
            <a:r>
              <a:rPr lang="en-US" sz="1600" dirty="0" err="1">
                <a:solidFill>
                  <a:schemeClr val="tx1">
                    <a:lumMod val="85000"/>
                    <a:lumOff val="15000"/>
                  </a:schemeClr>
                </a:solidFill>
                <a:ea typeface="Calibri"/>
                <a:cs typeface="Calibri"/>
              </a:rPr>
              <a:t>ensurepip</a:t>
            </a:r>
            <a:r>
              <a:rPr lang="en-US" sz="1600" dirty="0">
                <a:solidFill>
                  <a:schemeClr val="tx1">
                    <a:lumMod val="85000"/>
                    <a:lumOff val="15000"/>
                  </a:schemeClr>
                </a:solidFill>
                <a:ea typeface="Calibri"/>
                <a:cs typeface="Calibri"/>
              </a:rPr>
              <a:t>. </a:t>
            </a:r>
          </a:p>
          <a:p>
            <a:endParaRPr lang="en-US" sz="1600" dirty="0">
              <a:solidFill>
                <a:schemeClr val="tx1">
                  <a:lumMod val="85000"/>
                  <a:lumOff val="15000"/>
                </a:schemeClr>
              </a:solidFill>
              <a:ea typeface="Calibri"/>
              <a:cs typeface="Calibri"/>
            </a:endParaRPr>
          </a:p>
          <a:p>
            <a:r>
              <a:rPr lang="en-US" sz="1600" dirty="0">
                <a:solidFill>
                  <a:schemeClr val="tx1">
                    <a:lumMod val="85000"/>
                    <a:lumOff val="15000"/>
                  </a:schemeClr>
                </a:solidFill>
                <a:ea typeface="Calibri"/>
                <a:cs typeface="Calibri"/>
              </a:rPr>
              <a:t>Python Virtual Environment </a:t>
            </a:r>
          </a:p>
          <a:p>
            <a:r>
              <a:rPr lang="en-US" sz="1600" dirty="0">
                <a:solidFill>
                  <a:schemeClr val="tx1">
                    <a:lumMod val="85000"/>
                    <a:lumOff val="15000"/>
                  </a:schemeClr>
                </a:solidFill>
                <a:ea typeface="Calibri"/>
                <a:cs typeface="Calibri"/>
              </a:rPr>
              <a:t>Python’s virtual environment allows to install third-party packages without affecting python installation. </a:t>
            </a:r>
          </a:p>
          <a:p>
            <a:r>
              <a:rPr lang="en-US" sz="1600" dirty="0">
                <a:solidFill>
                  <a:schemeClr val="tx1">
                    <a:lumMod val="85000"/>
                    <a:lumOff val="15000"/>
                  </a:schemeClr>
                </a:solidFill>
                <a:ea typeface="Calibri"/>
                <a:cs typeface="Calibri"/>
              </a:rPr>
              <a:t>Built-in </a:t>
            </a:r>
            <a:r>
              <a:rPr lang="en-US" sz="1600" dirty="0" err="1">
                <a:solidFill>
                  <a:schemeClr val="tx1">
                    <a:lumMod val="85000"/>
                    <a:lumOff val="15000"/>
                  </a:schemeClr>
                </a:solidFill>
                <a:ea typeface="Calibri"/>
                <a:cs typeface="Calibri"/>
              </a:rPr>
              <a:t>venv</a:t>
            </a:r>
            <a:r>
              <a:rPr lang="en-US" sz="1600" dirty="0">
                <a:solidFill>
                  <a:schemeClr val="tx1">
                    <a:lumMod val="85000"/>
                    <a:lumOff val="15000"/>
                  </a:schemeClr>
                </a:solidFill>
                <a:ea typeface="Calibri"/>
                <a:cs typeface="Calibri"/>
              </a:rPr>
              <a:t> module</a:t>
            </a:r>
          </a:p>
          <a:p>
            <a:r>
              <a:rPr lang="en-US" sz="1600" dirty="0">
                <a:solidFill>
                  <a:schemeClr val="tx1">
                    <a:lumMod val="85000"/>
                    <a:lumOff val="15000"/>
                  </a:schemeClr>
                </a:solidFill>
                <a:ea typeface="Calibri"/>
                <a:cs typeface="Calibri"/>
              </a:rPr>
              <a:t>The </a:t>
            </a:r>
            <a:r>
              <a:rPr lang="en-US" sz="1600" dirty="0" err="1">
                <a:solidFill>
                  <a:schemeClr val="tx1">
                    <a:lumMod val="85000"/>
                    <a:lumOff val="15000"/>
                  </a:schemeClr>
                </a:solidFill>
                <a:ea typeface="Calibri"/>
                <a:cs typeface="Calibri"/>
              </a:rPr>
              <a:t>virtualenv</a:t>
            </a:r>
            <a:r>
              <a:rPr lang="en-US" sz="1600" dirty="0">
                <a:solidFill>
                  <a:schemeClr val="tx1">
                    <a:lumMod val="85000"/>
                    <a:lumOff val="15000"/>
                  </a:schemeClr>
                </a:solidFill>
                <a:ea typeface="Calibri"/>
                <a:cs typeface="Calibri"/>
              </a:rPr>
              <a:t> package</a:t>
            </a:r>
          </a:p>
        </p:txBody>
      </p:sp>
    </p:spTree>
    <p:extLst>
      <p:ext uri="{BB962C8B-B14F-4D97-AF65-F5344CB8AC3E}">
        <p14:creationId xmlns:p14="http://schemas.microsoft.com/office/powerpoint/2010/main" val="3283607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dirty="0">
                <a:ea typeface="Calibri Light"/>
                <a:cs typeface="Calibri Light"/>
              </a:rPr>
              <a:t>Python’s </a:t>
            </a:r>
            <a:r>
              <a:rPr lang="en-US" dirty="0" err="1">
                <a:ea typeface="Calibri Light"/>
                <a:cs typeface="Calibri Light"/>
              </a:rPr>
              <a:t>venv</a:t>
            </a:r>
            <a:r>
              <a:rPr lang="en-US" dirty="0">
                <a:ea typeface="Calibri Light"/>
                <a:cs typeface="Calibri Light"/>
              </a:rPr>
              <a:t> library</a:t>
            </a: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dirty="0">
                <a:ea typeface="Calibri"/>
                <a:cs typeface="Calibri"/>
              </a:rPr>
              <a:t>To use </a:t>
            </a:r>
            <a:r>
              <a:rPr lang="en-US" sz="1600" dirty="0" err="1">
                <a:ea typeface="Calibri"/>
                <a:cs typeface="Calibri"/>
              </a:rPr>
              <a:t>venv</a:t>
            </a:r>
            <a:r>
              <a:rPr lang="en-US" sz="1600" dirty="0">
                <a:ea typeface="Calibri"/>
                <a:cs typeface="Calibri"/>
              </a:rPr>
              <a:t> module, you can run Python with the –m flag which tells Python to load the specific module. </a:t>
            </a:r>
          </a:p>
          <a:p>
            <a:r>
              <a:rPr lang="en-US" sz="1600" dirty="0">
                <a:ea typeface="Calibri"/>
                <a:cs typeface="Calibri"/>
              </a:rPr>
              <a:t>Python –m </a:t>
            </a:r>
            <a:r>
              <a:rPr lang="en-US" sz="1600" dirty="0" err="1">
                <a:ea typeface="Calibri"/>
                <a:cs typeface="Calibri"/>
              </a:rPr>
              <a:t>venv</a:t>
            </a:r>
            <a:r>
              <a:rPr lang="en-US" sz="1600" dirty="0">
                <a:ea typeface="Calibri"/>
                <a:cs typeface="Calibri"/>
              </a:rPr>
              <a:t> test </a:t>
            </a:r>
          </a:p>
          <a:p>
            <a:r>
              <a:rPr lang="en-US" sz="1600" dirty="0">
                <a:ea typeface="Calibri"/>
                <a:cs typeface="Calibri"/>
              </a:rPr>
              <a:t>This command creates a folder named test in your current directory, to activate the virtual environment navigate to the test folder, run the command in Linux / macOS. </a:t>
            </a:r>
          </a:p>
          <a:p>
            <a:r>
              <a:rPr lang="en-IN" sz="1600" b="1" dirty="0">
                <a:cs typeface="Calibri"/>
              </a:rPr>
              <a:t>source bin/activate </a:t>
            </a:r>
          </a:p>
          <a:p>
            <a:endParaRPr lang="en-US" sz="1600" dirty="0">
              <a:ea typeface="Calibri"/>
              <a:cs typeface="Calibri"/>
            </a:endParaRPr>
          </a:p>
          <a:p>
            <a:r>
              <a:rPr lang="en-US" sz="1600" dirty="0">
                <a:ea typeface="Calibri"/>
                <a:cs typeface="Calibri"/>
              </a:rPr>
              <a:t>The </a:t>
            </a:r>
            <a:r>
              <a:rPr lang="en-US" sz="1600" dirty="0" err="1">
                <a:ea typeface="Calibri"/>
                <a:cs typeface="Calibri"/>
              </a:rPr>
              <a:t>virtualenv</a:t>
            </a:r>
            <a:r>
              <a:rPr lang="en-US" sz="1600" dirty="0">
                <a:ea typeface="Calibri"/>
                <a:cs typeface="Calibri"/>
              </a:rPr>
              <a:t> package is faster &amp; it can create virtual environments for multiple python versions. </a:t>
            </a:r>
          </a:p>
          <a:p>
            <a:r>
              <a:rPr lang="en-US" sz="1600" dirty="0">
                <a:ea typeface="Calibri"/>
                <a:cs typeface="Calibri"/>
              </a:rPr>
              <a:t>It can upgraded via pip. </a:t>
            </a:r>
          </a:p>
          <a:p>
            <a:endParaRPr lang="en-US" sz="1600" dirty="0">
              <a:ea typeface="Calibri"/>
              <a:cs typeface="Calibri"/>
            </a:endParaRPr>
          </a:p>
          <a:p>
            <a:r>
              <a:rPr lang="en-US" sz="1600" b="1" dirty="0">
                <a:ea typeface="Calibri"/>
                <a:cs typeface="Calibri"/>
              </a:rPr>
              <a:t>pip install </a:t>
            </a:r>
            <a:r>
              <a:rPr lang="en-US" sz="1600" b="1" dirty="0" err="1">
                <a:ea typeface="Calibri"/>
                <a:cs typeface="Calibri"/>
              </a:rPr>
              <a:t>virtualenv</a:t>
            </a:r>
            <a:endParaRPr lang="en-US" sz="1600" b="1" dirty="0">
              <a:ea typeface="Calibri"/>
              <a:cs typeface="Calibri"/>
            </a:endParaRPr>
          </a:p>
          <a:p>
            <a:r>
              <a:rPr lang="en-US" sz="1600" b="1" dirty="0" err="1">
                <a:ea typeface="Calibri"/>
                <a:cs typeface="Calibri"/>
              </a:rPr>
              <a:t>Virtualenv</a:t>
            </a:r>
            <a:r>
              <a:rPr lang="en-US" sz="1600" b="1" dirty="0">
                <a:ea typeface="Calibri"/>
                <a:cs typeface="Calibri"/>
              </a:rPr>
              <a:t> &lt;</a:t>
            </a:r>
            <a:r>
              <a:rPr lang="en-US" sz="1600" b="1" dirty="0" err="1">
                <a:ea typeface="Calibri"/>
                <a:cs typeface="Calibri"/>
              </a:rPr>
              <a:t>Folder_Name</a:t>
            </a:r>
            <a:r>
              <a:rPr lang="en-US" sz="1600" b="1" dirty="0">
                <a:ea typeface="Calibri"/>
                <a:cs typeface="Calibri"/>
              </a:rPr>
              <a:t>&gt;</a:t>
            </a:r>
          </a:p>
        </p:txBody>
      </p:sp>
    </p:spTree>
    <p:extLst>
      <p:ext uri="{BB962C8B-B14F-4D97-AF65-F5344CB8AC3E}">
        <p14:creationId xmlns:p14="http://schemas.microsoft.com/office/powerpoint/2010/main" val="45716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Python Basic Data types</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fontScale="92500" lnSpcReduction="20000"/>
          </a:bodyPr>
          <a:lstStyle/>
          <a:p>
            <a:r>
              <a:rPr lang="en-US" sz="1600" dirty="0">
                <a:ea typeface="Calibri"/>
                <a:cs typeface="Calibri"/>
              </a:rPr>
              <a:t>Lists – Ordered sequences of elements which are mutable</a:t>
            </a:r>
          </a:p>
          <a:p>
            <a:r>
              <a:rPr lang="en-US" sz="1600" dirty="0">
                <a:ea typeface="Calibri"/>
                <a:cs typeface="Calibri"/>
              </a:rPr>
              <a:t>Sets – Collections of unordered elements which are immutable</a:t>
            </a:r>
          </a:p>
          <a:p>
            <a:r>
              <a:rPr lang="en-US" sz="1600" dirty="0">
                <a:ea typeface="Calibri"/>
                <a:cs typeface="Calibri"/>
              </a:rPr>
              <a:t>Tuples – Similar to sets but use parentheses and also mutable. </a:t>
            </a:r>
          </a:p>
          <a:p>
            <a:endParaRPr lang="en-US" sz="1600" dirty="0">
              <a:ea typeface="Calibri"/>
              <a:cs typeface="Calibri"/>
            </a:endParaRPr>
          </a:p>
          <a:p>
            <a:r>
              <a:rPr lang="en-US" sz="1600" dirty="0">
                <a:ea typeface="Calibri"/>
                <a:cs typeface="Calibri"/>
              </a:rPr>
              <a:t>Sequences: </a:t>
            </a:r>
          </a:p>
          <a:p>
            <a:pPr marL="342900" indent="-342900">
              <a:buAutoNum type="alphaLcParenR"/>
            </a:pPr>
            <a:r>
              <a:rPr lang="en-US" sz="1600" dirty="0">
                <a:ea typeface="Calibri"/>
                <a:cs typeface="Calibri"/>
              </a:rPr>
              <a:t>String: str()</a:t>
            </a:r>
          </a:p>
          <a:p>
            <a:pPr marL="342900" indent="-342900">
              <a:buAutoNum type="alphaLcParenR"/>
            </a:pPr>
            <a:r>
              <a:rPr lang="en-US" sz="1600" dirty="0">
                <a:ea typeface="Calibri"/>
                <a:cs typeface="Calibri"/>
              </a:rPr>
              <a:t>List: list()</a:t>
            </a:r>
          </a:p>
          <a:p>
            <a:pPr marL="342900" indent="-342900">
              <a:buAutoNum type="alphaLcParenR"/>
            </a:pPr>
            <a:r>
              <a:rPr lang="en-US" sz="1600" dirty="0">
                <a:ea typeface="Calibri"/>
                <a:cs typeface="Calibri"/>
              </a:rPr>
              <a:t>Tuple: tuple()</a:t>
            </a:r>
          </a:p>
          <a:p>
            <a:pPr marL="342900" indent="-342900">
              <a:buAutoNum type="alphaLcParenR"/>
            </a:pPr>
            <a:r>
              <a:rPr lang="en-US" sz="1600" dirty="0">
                <a:ea typeface="Calibri"/>
                <a:cs typeface="Calibri"/>
              </a:rPr>
              <a:t>Range: range()</a:t>
            </a:r>
          </a:p>
          <a:p>
            <a:r>
              <a:rPr lang="en-US" sz="1600" dirty="0">
                <a:ea typeface="Calibri"/>
                <a:cs typeface="Calibri"/>
              </a:rPr>
              <a:t>Mapping: </a:t>
            </a:r>
          </a:p>
          <a:p>
            <a:pPr marL="0" indent="0">
              <a:buNone/>
            </a:pPr>
            <a:r>
              <a:rPr lang="en-US" sz="1600" dirty="0">
                <a:ea typeface="Calibri"/>
                <a:cs typeface="Calibri"/>
              </a:rPr>
              <a:t>e) Dictionary: </a:t>
            </a:r>
            <a:r>
              <a:rPr lang="en-US" sz="1600" dirty="0" err="1">
                <a:ea typeface="Calibri"/>
                <a:cs typeface="Calibri"/>
              </a:rPr>
              <a:t>dict</a:t>
            </a:r>
            <a:r>
              <a:rPr lang="en-US" sz="1600" dirty="0">
                <a:ea typeface="Calibri"/>
                <a:cs typeface="Calibri"/>
              </a:rPr>
              <a:t>()</a:t>
            </a:r>
          </a:p>
          <a:p>
            <a:r>
              <a:rPr lang="en-US" sz="1600" dirty="0">
                <a:ea typeface="Calibri"/>
                <a:cs typeface="Calibri"/>
              </a:rPr>
              <a:t>Set: set()</a:t>
            </a:r>
          </a:p>
          <a:p>
            <a:r>
              <a:rPr lang="en-US" sz="1600" dirty="0">
                <a:ea typeface="Calibri"/>
                <a:cs typeface="Calibri"/>
              </a:rPr>
              <a:t>Numbers: </a:t>
            </a:r>
          </a:p>
          <a:p>
            <a:r>
              <a:rPr lang="en-US" sz="1600" dirty="0">
                <a:ea typeface="Calibri"/>
                <a:cs typeface="Calibri"/>
              </a:rPr>
              <a:t>f) Integer: int()</a:t>
            </a:r>
          </a:p>
          <a:p>
            <a:r>
              <a:rPr lang="en-US" sz="1600" dirty="0">
                <a:ea typeface="Calibri"/>
                <a:cs typeface="Calibri"/>
              </a:rPr>
              <a:t>g) Boolean: bool()</a:t>
            </a:r>
          </a:p>
          <a:p>
            <a:r>
              <a:rPr lang="en-US" sz="1600" dirty="0">
                <a:ea typeface="Calibri"/>
                <a:cs typeface="Calibri"/>
              </a:rPr>
              <a:t>h)float: float()</a:t>
            </a:r>
          </a:p>
          <a:p>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a:t>Python variables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3455821" cy="3447832"/>
          </a:xfrm>
        </p:spPr>
        <p:txBody>
          <a:bodyPr vert="horz" lIns="91440" tIns="45720" rIns="91440" bIns="45720" rtlCol="0" anchor="t">
            <a:normAutofit/>
          </a:bodyPr>
          <a:lstStyle/>
          <a:p>
            <a:r>
              <a:rPr lang="en-US" sz="2000" dirty="0"/>
              <a:t>A python variable is like a container which stores data temporarily. </a:t>
            </a:r>
          </a:p>
          <a:p>
            <a:r>
              <a:rPr lang="en-US" sz="2000" dirty="0"/>
              <a:t>Variables keep values accessible. </a:t>
            </a:r>
          </a:p>
          <a:p>
            <a:r>
              <a:rPr lang="en-US" sz="2000" dirty="0"/>
              <a:t>Variables make changes easy </a:t>
            </a:r>
          </a:p>
          <a:p>
            <a:r>
              <a:rPr lang="en-US" sz="2000" dirty="0"/>
              <a:t>Variables have data types.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pic>
        <p:nvPicPr>
          <p:cNvPr id="4" name="Picture 3">
            <a:extLst>
              <a:ext uri="{FF2B5EF4-FFF2-40B4-BE49-F238E27FC236}">
                <a16:creationId xmlns:a16="http://schemas.microsoft.com/office/drawing/2014/main" id="{F43AE9BA-B5F8-1E6A-FBEA-11E278937083}"/>
              </a:ext>
            </a:extLst>
          </p:cNvPr>
          <p:cNvPicPr>
            <a:picLocks noChangeAspect="1"/>
          </p:cNvPicPr>
          <p:nvPr/>
        </p:nvPicPr>
        <p:blipFill>
          <a:blip r:embed="rId2"/>
          <a:stretch>
            <a:fillRect/>
          </a:stretch>
        </p:blipFill>
        <p:spPr>
          <a:xfrm>
            <a:off x="5005632" y="741391"/>
            <a:ext cx="6353425" cy="5384528"/>
          </a:xfrm>
          <a:prstGeom prst="rect">
            <a:avLst/>
          </a:prstGeom>
        </p:spPr>
      </p:pic>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Operators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Operators in Python are used to perform operations on variables and values. They are the following types – </a:t>
            </a:r>
          </a:p>
          <a:p>
            <a:endParaRPr lang="en-US" sz="1400" dirty="0">
              <a:ea typeface="Calibri"/>
              <a:cs typeface="Calibri"/>
            </a:endParaRPr>
          </a:p>
          <a:p>
            <a:r>
              <a:rPr lang="en-US" sz="1400" dirty="0">
                <a:ea typeface="Calibri"/>
                <a:cs typeface="Calibri"/>
              </a:rPr>
              <a:t>Arithmetic operators </a:t>
            </a:r>
          </a:p>
          <a:p>
            <a:r>
              <a:rPr lang="en-US" sz="1400" dirty="0">
                <a:ea typeface="Calibri"/>
                <a:cs typeface="Calibri"/>
              </a:rPr>
              <a:t>Assignment operators </a:t>
            </a:r>
          </a:p>
          <a:p>
            <a:r>
              <a:rPr lang="en-US" sz="1400" dirty="0">
                <a:ea typeface="Calibri"/>
                <a:cs typeface="Calibri"/>
              </a:rPr>
              <a:t>Comparison operators </a:t>
            </a:r>
          </a:p>
          <a:p>
            <a:r>
              <a:rPr lang="en-US" sz="1400" dirty="0">
                <a:ea typeface="Calibri"/>
                <a:cs typeface="Calibri"/>
              </a:rPr>
              <a:t>Logical operators </a:t>
            </a:r>
          </a:p>
          <a:p>
            <a:r>
              <a:rPr lang="en-US" sz="1400" dirty="0">
                <a:ea typeface="Calibri"/>
                <a:cs typeface="Calibri"/>
              </a:rPr>
              <a:t>Identity operators </a:t>
            </a:r>
          </a:p>
          <a:p>
            <a:r>
              <a:rPr lang="en-US" sz="1400" dirty="0" err="1">
                <a:ea typeface="Calibri"/>
                <a:cs typeface="Calibri"/>
              </a:rPr>
              <a:t>Memebership</a:t>
            </a:r>
            <a:r>
              <a:rPr lang="en-US" sz="1400" dirty="0">
                <a:ea typeface="Calibri"/>
                <a:cs typeface="Calibri"/>
              </a:rPr>
              <a:t> operators </a:t>
            </a:r>
          </a:p>
        </p:txBody>
      </p:sp>
    </p:spTree>
    <p:extLst>
      <p:ext uri="{BB962C8B-B14F-4D97-AF65-F5344CB8AC3E}">
        <p14:creationId xmlns:p14="http://schemas.microsoft.com/office/powerpoint/2010/main" val="256235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Loops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r>
              <a:rPr lang="en-US" b="1" dirty="0"/>
              <a:t>For Loop </a:t>
            </a:r>
          </a:p>
          <a:p>
            <a:r>
              <a:rPr lang="en-US" sz="1200" dirty="0">
                <a:solidFill>
                  <a:srgbClr val="161616"/>
                </a:solidFill>
                <a:highlight>
                  <a:srgbClr val="FFFFFF"/>
                </a:highlight>
                <a:latin typeface="Segoe UI"/>
                <a:cs typeface="Segoe UI"/>
              </a:rPr>
              <a:t>The for loop lets you run a block of code of each item in an </a:t>
            </a:r>
            <a:r>
              <a:rPr lang="en-US" sz="1200" dirty="0" err="1">
                <a:solidFill>
                  <a:srgbClr val="161616"/>
                </a:solidFill>
                <a:highlight>
                  <a:srgbClr val="FFFFFF"/>
                </a:highlight>
                <a:latin typeface="Segoe UI"/>
                <a:cs typeface="Segoe UI"/>
              </a:rPr>
              <a:t>iterable</a:t>
            </a:r>
            <a:r>
              <a:rPr lang="en-US" sz="1200" dirty="0">
                <a:solidFill>
                  <a:srgbClr val="161616"/>
                </a:solidFill>
                <a:highlight>
                  <a:srgbClr val="FFFFFF"/>
                </a:highlight>
                <a:latin typeface="Segoe UI"/>
                <a:cs typeface="Segoe UI"/>
              </a:rPr>
              <a:t> like a list, string, tuple, set or dictionary. </a:t>
            </a: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BB4CC4-6DA7-A1A4-2ABE-98D5122821E4}"/>
              </a:ext>
            </a:extLst>
          </p:cNvPr>
          <p:cNvPicPr>
            <a:picLocks noChangeAspect="1"/>
          </p:cNvPicPr>
          <p:nvPr/>
        </p:nvPicPr>
        <p:blipFill>
          <a:blip r:embed="rId2"/>
          <a:stretch>
            <a:fillRect/>
          </a:stretch>
        </p:blipFill>
        <p:spPr>
          <a:xfrm>
            <a:off x="615779" y="2920475"/>
            <a:ext cx="7772400" cy="1017049"/>
          </a:xfrm>
          <a:prstGeom prst="rect">
            <a:avLst/>
          </a:prstGeom>
        </p:spPr>
      </p:pic>
      <p:sp>
        <p:nvSpPr>
          <p:cNvPr id="6" name="TextBox 5">
            <a:extLst>
              <a:ext uri="{FF2B5EF4-FFF2-40B4-BE49-F238E27FC236}">
                <a16:creationId xmlns:a16="http://schemas.microsoft.com/office/drawing/2014/main" id="{A03FCE4C-5111-8B94-DBB4-6BA650C61E01}"/>
              </a:ext>
            </a:extLst>
          </p:cNvPr>
          <p:cNvSpPr txBox="1"/>
          <p:nvPr/>
        </p:nvSpPr>
        <p:spPr>
          <a:xfrm>
            <a:off x="778476" y="4337222"/>
            <a:ext cx="8130746" cy="190821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For keyword</a:t>
            </a:r>
            <a:r>
              <a:rPr lang="en-US" sz="1600" dirty="0"/>
              <a:t>: This starts the loop. It tells python you want to begin the loop. </a:t>
            </a:r>
          </a:p>
          <a:p>
            <a:pPr marL="285750" indent="-285750">
              <a:buFont typeface="Arial" panose="020B0604020202020204" pitchFamily="34" charset="0"/>
              <a:buChar char="•"/>
            </a:pPr>
            <a:r>
              <a:rPr lang="en-US" sz="1600" b="1" dirty="0"/>
              <a:t>Loop variable </a:t>
            </a:r>
            <a:r>
              <a:rPr lang="en-US" sz="1600" dirty="0"/>
              <a:t>- </a:t>
            </a:r>
            <a:r>
              <a:rPr lang="en-IN" sz="1600" b="1" dirty="0"/>
              <a:t>n for </a:t>
            </a:r>
            <a:r>
              <a:rPr lang="en-IN" sz="1600" b="1" dirty="0" err="1"/>
              <a:t>ip</a:t>
            </a:r>
            <a:r>
              <a:rPr lang="en-IN" sz="1600" b="1" dirty="0"/>
              <a:t> in </a:t>
            </a:r>
            <a:r>
              <a:rPr lang="en-IN" sz="1600" b="1" dirty="0" err="1"/>
              <a:t>ip_list</a:t>
            </a:r>
            <a:r>
              <a:rPr lang="en-IN" sz="1600" dirty="0"/>
              <a:t>:, </a:t>
            </a:r>
            <a:r>
              <a:rPr lang="en-IN" sz="1600" dirty="0" err="1"/>
              <a:t>ip</a:t>
            </a:r>
            <a:r>
              <a:rPr lang="en-IN" sz="1600" dirty="0"/>
              <a:t> is the loop variable. It’s a temporary variable that represents each item in the </a:t>
            </a:r>
            <a:r>
              <a:rPr lang="en-IN" sz="1600" dirty="0" err="1"/>
              <a:t>iterable</a:t>
            </a:r>
            <a:r>
              <a:rPr lang="en-IN" sz="1600" dirty="0"/>
              <a:t> during each loop cycle.</a:t>
            </a:r>
          </a:p>
          <a:p>
            <a:pPr marL="285750" indent="-285750">
              <a:buFont typeface="Arial" panose="020B0604020202020204" pitchFamily="34" charset="0"/>
              <a:buChar char="•"/>
            </a:pPr>
            <a:r>
              <a:rPr lang="en-IN" sz="1600" b="1" dirty="0"/>
              <a:t>Looping object </a:t>
            </a:r>
            <a:r>
              <a:rPr lang="en-IN" sz="1600" dirty="0"/>
              <a:t>- </a:t>
            </a:r>
            <a:r>
              <a:rPr lang="en-IN" b="1" dirty="0"/>
              <a:t>(</a:t>
            </a:r>
            <a:r>
              <a:rPr lang="en-IN" b="1" dirty="0" err="1"/>
              <a:t>ip_list</a:t>
            </a:r>
            <a:r>
              <a:rPr lang="en-IN" b="1" dirty="0"/>
              <a:t>)</a:t>
            </a:r>
            <a:r>
              <a:rPr lang="en-IN" dirty="0"/>
              <a:t>: </a:t>
            </a:r>
            <a:r>
              <a:rPr lang="en-IN" sz="1600" dirty="0" err="1"/>
              <a:t>ip_list</a:t>
            </a:r>
            <a:r>
              <a:rPr lang="en-IN" sz="1600" dirty="0"/>
              <a:t> is the list you want to loop over. In each loop cycle, the loop variable </a:t>
            </a:r>
            <a:r>
              <a:rPr lang="en-IN" sz="1600" dirty="0" err="1"/>
              <a:t>ip</a:t>
            </a:r>
            <a:r>
              <a:rPr lang="en-IN" sz="1600" dirty="0"/>
              <a:t> takes the value of the next item in the list.</a:t>
            </a:r>
          </a:p>
          <a:p>
            <a:pPr marL="285750" indent="-285750">
              <a:buFont typeface="Arial" panose="020B0604020202020204" pitchFamily="34" charset="0"/>
              <a:buChar char="•"/>
            </a:pPr>
            <a:r>
              <a:rPr lang="en-IN" sz="1600" b="1" dirty="0"/>
              <a:t>Indented block </a:t>
            </a:r>
            <a:r>
              <a:rPr lang="en-IN" sz="1600" dirty="0"/>
              <a:t>- The indented code under the for loop is what runs in each loop cycle. Here, it’s print(</a:t>
            </a:r>
            <a:r>
              <a:rPr lang="en-IN" sz="1600" dirty="0" err="1"/>
              <a:t>ip</a:t>
            </a:r>
            <a:r>
              <a:rPr lang="en-IN" sz="1600" dirty="0"/>
              <a:t>).</a:t>
            </a:r>
            <a:endParaRPr lang="en-US" sz="1600" dirty="0"/>
          </a:p>
        </p:txBody>
      </p:sp>
    </p:spTree>
    <p:extLst>
      <p:ext uri="{BB962C8B-B14F-4D97-AF65-F5344CB8AC3E}">
        <p14:creationId xmlns:p14="http://schemas.microsoft.com/office/powerpoint/2010/main" val="60641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76693" y="741391"/>
            <a:ext cx="5219307" cy="1616203"/>
          </a:xfrm>
        </p:spPr>
        <p:txBody>
          <a:bodyPr anchor="b">
            <a:normAutofit/>
          </a:bodyPr>
          <a:lstStyle/>
          <a:p>
            <a:r>
              <a:rPr lang="en-US" sz="3200">
                <a:ea typeface="Calibri Light"/>
                <a:cs typeface="Calibri Light"/>
              </a:rPr>
              <a:t>Nesting Loops in Python</a:t>
            </a:r>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76692" y="2533476"/>
            <a:ext cx="5219307" cy="3537410"/>
          </a:xfrm>
        </p:spPr>
        <p:txBody>
          <a:bodyPr vert="horz" lIns="91440" tIns="45720" rIns="91440" bIns="45720" rtlCol="0" anchor="t">
            <a:normAutofit lnSpcReduction="10000"/>
          </a:bodyPr>
          <a:lstStyle/>
          <a:p>
            <a:r>
              <a:rPr lang="en-IN" sz="2000" b="1" dirty="0">
                <a:highlight>
                  <a:srgbClr val="FFFFFF"/>
                </a:highlight>
              </a:rPr>
              <a:t>Nesting loops </a:t>
            </a:r>
            <a:r>
              <a:rPr lang="en-IN" sz="2000" dirty="0">
                <a:highlight>
                  <a:srgbClr val="FFFFFF"/>
                </a:highlight>
              </a:rPr>
              <a:t>in Python means putting one loop inside another. This lets you create more complex patterns and work with multiple levels of data. </a:t>
            </a:r>
          </a:p>
          <a:p>
            <a:r>
              <a:rPr lang="en-IN" sz="2000" b="1" dirty="0">
                <a:highlight>
                  <a:srgbClr val="FFFFFF"/>
                </a:highlight>
              </a:rPr>
              <a:t>Outer Loop </a:t>
            </a:r>
            <a:r>
              <a:rPr lang="en-IN" sz="2000" dirty="0">
                <a:highlight>
                  <a:srgbClr val="FFFFFF"/>
                </a:highlight>
              </a:rPr>
              <a:t>– The outer for loop goes through </a:t>
            </a:r>
            <a:r>
              <a:rPr lang="en-IN" sz="2000" dirty="0" err="1">
                <a:highlight>
                  <a:srgbClr val="FFFFFF"/>
                </a:highlight>
              </a:rPr>
              <a:t>data_centers</a:t>
            </a:r>
            <a:r>
              <a:rPr lang="en-IN" sz="2000" dirty="0">
                <a:highlight>
                  <a:srgbClr val="FFFFFF"/>
                </a:highlight>
              </a:rPr>
              <a:t> list. In each </a:t>
            </a:r>
            <a:r>
              <a:rPr lang="en-IN" sz="2000" dirty="0" err="1">
                <a:highlight>
                  <a:srgbClr val="FFFFFF"/>
                </a:highlight>
              </a:rPr>
              <a:t>loop_cycle</a:t>
            </a:r>
            <a:r>
              <a:rPr lang="en-IN" sz="2000" dirty="0">
                <a:highlight>
                  <a:srgbClr val="FFFFFF"/>
                </a:highlight>
              </a:rPr>
              <a:t>, dc gets the first value of the tuple and </a:t>
            </a:r>
            <a:r>
              <a:rPr lang="en-IN" sz="2000" dirty="0" err="1">
                <a:highlight>
                  <a:srgbClr val="FFFFFF"/>
                </a:highlight>
              </a:rPr>
              <a:t>ip</a:t>
            </a:r>
            <a:r>
              <a:rPr lang="en-IN" sz="2000" dirty="0">
                <a:highlight>
                  <a:srgbClr val="FFFFFF"/>
                </a:highlight>
              </a:rPr>
              <a:t> gets the second value. </a:t>
            </a:r>
          </a:p>
          <a:p>
            <a:r>
              <a:rPr lang="en-IN" sz="2000" b="1" dirty="0">
                <a:highlight>
                  <a:srgbClr val="FFFFFF"/>
                </a:highlight>
              </a:rPr>
              <a:t>Inner for loop </a:t>
            </a:r>
            <a:r>
              <a:rPr lang="en-IN" sz="2000" dirty="0">
                <a:highlight>
                  <a:srgbClr val="FFFFFF"/>
                </a:highlight>
              </a:rPr>
              <a:t>– Inside the outer loop, there’s another for loop, the inner loop generates numbers 1 to 2. In each cycle of inner loop, </a:t>
            </a:r>
            <a:r>
              <a:rPr lang="en-IN" sz="2000" dirty="0" err="1">
                <a:highlight>
                  <a:srgbClr val="FFFFFF"/>
                </a:highlight>
              </a:rPr>
              <a:t>i</a:t>
            </a:r>
            <a:r>
              <a:rPr lang="en-IN" sz="2000" dirty="0">
                <a:highlight>
                  <a:srgbClr val="FFFFFF"/>
                </a:highlight>
              </a:rPr>
              <a:t> gets the number in the range.</a:t>
            </a:r>
          </a:p>
          <a:p>
            <a:endParaRPr lang="en-US" sz="2000" dirty="0">
              <a:latin typeface="Calibri"/>
              <a:ea typeface="Calibri"/>
              <a:cs typeface="Calibri"/>
            </a:endParaRPr>
          </a:p>
          <a:p>
            <a:endParaRPr lang="en-US" sz="2000" dirty="0">
              <a:latin typeface="Calibri"/>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A9B4D9FC-F4EC-9A86-8842-F88AA118F0EA}"/>
              </a:ext>
            </a:extLst>
          </p:cNvPr>
          <p:cNvPicPr>
            <a:picLocks noChangeAspect="1"/>
          </p:cNvPicPr>
          <p:nvPr/>
        </p:nvPicPr>
        <p:blipFill>
          <a:blip r:embed="rId2"/>
          <a:stretch>
            <a:fillRect/>
          </a:stretch>
        </p:blipFill>
        <p:spPr>
          <a:xfrm>
            <a:off x="7008019" y="3049730"/>
            <a:ext cx="4273463" cy="758539"/>
          </a:xfrm>
          <a:prstGeom prst="rect">
            <a:avLst/>
          </a:prstGeom>
        </p:spPr>
      </p:pic>
      <p:grpSp>
        <p:nvGrpSpPr>
          <p:cNvPr id="15" name="Group 1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3564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a:t>While Loop in Python</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highlight>
                <a:srgbClr val="FFFFFF"/>
              </a:highlight>
              <a:ea typeface="Calibri"/>
              <a:cs typeface="Calibri"/>
            </a:endParaRPr>
          </a:p>
          <a:p>
            <a:endParaRPr lang="en-US" sz="2000">
              <a:highlight>
                <a:srgbClr val="FFFFFF"/>
              </a:highlight>
              <a:latin typeface="Segoe UI"/>
              <a:ea typeface="Calibri"/>
              <a:cs typeface="Segoe UI"/>
            </a:endParaRPr>
          </a:p>
          <a:p>
            <a:r>
              <a:rPr lang="en-US" sz="2000">
                <a:ea typeface="Calibri"/>
                <a:cs typeface="Calibri"/>
              </a:rPr>
              <a:t>A while loop is a powerful tool in Python lets you repeatedly run a block of code as long as certain condition is true. </a:t>
            </a:r>
          </a:p>
          <a:p>
            <a:r>
              <a:rPr lang="en-US" sz="2000">
                <a:ea typeface="Calibri"/>
                <a:cs typeface="Calibri"/>
              </a:rPr>
              <a:t>A while loop has an expression followed by a colon and an indented block of code. </a:t>
            </a:r>
          </a:p>
          <a:p>
            <a:endParaRPr lang="en-US" sz="2000">
              <a:ea typeface="Calibri"/>
              <a:cs typeface="Calibri"/>
            </a:endParaRPr>
          </a:p>
        </p:txBody>
      </p:sp>
      <p:pic>
        <p:nvPicPr>
          <p:cNvPr id="4" name="Picture 3">
            <a:extLst>
              <a:ext uri="{FF2B5EF4-FFF2-40B4-BE49-F238E27FC236}">
                <a16:creationId xmlns:a16="http://schemas.microsoft.com/office/drawing/2014/main" id="{D07882B3-2562-A390-D167-64A67FC9B4A0}"/>
              </a:ext>
            </a:extLst>
          </p:cNvPr>
          <p:cNvPicPr>
            <a:picLocks noChangeAspect="1"/>
          </p:cNvPicPr>
          <p:nvPr/>
        </p:nvPicPr>
        <p:blipFill>
          <a:blip r:embed="rId2"/>
          <a:stretch>
            <a:fillRect/>
          </a:stretch>
        </p:blipFill>
        <p:spPr>
          <a:xfrm>
            <a:off x="5911532" y="3639651"/>
            <a:ext cx="5150277" cy="140345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64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For &amp; While Loop</a:t>
            </a:r>
          </a:p>
        </p:txBody>
      </p:sp>
      <p:pic>
        <p:nvPicPr>
          <p:cNvPr id="5" name="Content Placeholder 4">
            <a:extLst>
              <a:ext uri="{FF2B5EF4-FFF2-40B4-BE49-F238E27FC236}">
                <a16:creationId xmlns:a16="http://schemas.microsoft.com/office/drawing/2014/main" id="{F5B9D339-41C9-1DB9-9CFD-C592FDEFCE94}"/>
              </a:ext>
            </a:extLst>
          </p:cNvPr>
          <p:cNvPicPr>
            <a:picLocks noGrp="1" noChangeAspect="1"/>
          </p:cNvPicPr>
          <p:nvPr>
            <p:ph idx="1"/>
          </p:nvPr>
        </p:nvPicPr>
        <p:blipFill>
          <a:blip r:embed="rId2"/>
          <a:stretch>
            <a:fillRect/>
          </a:stretch>
        </p:blipFill>
        <p:spPr>
          <a:xfrm>
            <a:off x="643467" y="1704945"/>
            <a:ext cx="10905066" cy="4334763"/>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2201</TotalTime>
  <Words>1667</Words>
  <Application>Microsoft Macintosh PowerPoint</Application>
  <PresentationFormat>Widescreen</PresentationFormat>
  <Paragraphs>167</Paragraphs>
  <Slides>22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-apple-system</vt:lpstr>
      <vt:lpstr>Arial</vt:lpstr>
      <vt:lpstr>Calibri</vt:lpstr>
      <vt:lpstr>Calibri Light</vt:lpstr>
      <vt:lpstr>Segoe UI</vt:lpstr>
      <vt:lpstr>Wingdings</vt:lpstr>
      <vt:lpstr>Office 2013 - 2022 Theme</vt:lpstr>
      <vt:lpstr>Python Scripting with Network</vt:lpstr>
      <vt:lpstr>Agenda</vt:lpstr>
      <vt:lpstr>Overview of Python</vt:lpstr>
      <vt:lpstr>Python Benefits</vt:lpstr>
      <vt:lpstr>Object Oriented Programming(OOPS) Concepts </vt:lpstr>
      <vt:lpstr>OOPs with Python</vt:lpstr>
      <vt:lpstr>Python Installation</vt:lpstr>
      <vt:lpstr>Python’s venv library</vt:lpstr>
      <vt:lpstr>Python Basic Data types</vt:lpstr>
      <vt:lpstr>Python variables </vt:lpstr>
      <vt:lpstr>Python Operators</vt:lpstr>
      <vt:lpstr>Loops in Python</vt:lpstr>
      <vt:lpstr>Nesting Loops in Python</vt:lpstr>
      <vt:lpstr>While Loop in Python</vt:lpstr>
      <vt:lpstr>Difference between For &amp; While Loop</vt:lpstr>
      <vt:lpstr>Conditional Statements in Python</vt:lpstr>
      <vt:lpstr>Truthy &amp; Falsy Values in Python</vt:lpstr>
      <vt:lpstr>Python Lists </vt:lpstr>
      <vt:lpstr>Tuples in Python</vt:lpstr>
      <vt:lpstr>Sets in Python</vt:lpstr>
      <vt:lpstr>Python Dictionaries for Network Engineers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cp:revision>
  <dcterms:created xsi:type="dcterms:W3CDTF">2026-04-11T17:33:10Z</dcterms:created>
  <dcterms:modified xsi:type="dcterms:W3CDTF">2026-05-20T05:11:51Z</dcterms:modified>
</cp:coreProperties>
</file>