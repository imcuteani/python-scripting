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83" r:id="rId2"/>
    <p:sldId id="257" r:id="rId3"/>
    <p:sldId id="299" r:id="rId4"/>
    <p:sldId id="292" r:id="rId5"/>
    <p:sldId id="301" r:id="rId6"/>
    <p:sldId id="295" r:id="rId7"/>
    <p:sldId id="280"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94" autoAdjust="0"/>
    <p:restoredTop sz="94061" autoAdjust="0"/>
  </p:normalViewPr>
  <p:slideViewPr>
    <p:cSldViewPr snapToGrid="0">
      <p:cViewPr varScale="1">
        <p:scale>
          <a:sx n="65" d="100"/>
          <a:sy n="65" d="100"/>
        </p:scale>
        <p:origin x="822" y="78"/>
      </p:cViewPr>
      <p:guideLst/>
    </p:cSldViewPr>
  </p:slideViewPr>
  <p:outlineViewPr>
    <p:cViewPr>
      <p:scale>
        <a:sx n="33" d="100"/>
        <a:sy n="33" d="100"/>
      </p:scale>
      <p:origin x="0" y="-1656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6/7/2026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6/7/2026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6/7/2026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6/7/2026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pysnmp.readthedocs.io/en/latest/"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670B7-BE47-7E35-0D27-0BAB2C5610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219B7A-2A46-EAB6-DB28-580FA3519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2BC140-2EEB-8EEA-E87E-6A111266ED29}"/>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83B80ED1-C27B-6D48-B5D8-A825BB88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0F9ED15-CDB1-785A-7695-72DF53472499}"/>
              </a:ext>
            </a:extLst>
          </p:cNvPr>
          <p:cNvSpPr>
            <a:spLocks noGrp="1"/>
          </p:cNvSpPr>
          <p:nvPr>
            <p:ph type="ctrTitle"/>
          </p:nvPr>
        </p:nvSpPr>
        <p:spPr>
          <a:xfrm>
            <a:off x="3325473" y="1924619"/>
            <a:ext cx="5541054" cy="1655378"/>
          </a:xfrm>
        </p:spPr>
        <p:txBody>
          <a:bodyPr>
            <a:normAutofit/>
          </a:bodyPr>
          <a:lstStyle/>
          <a:p>
            <a:r>
              <a:rPr lang="en-US" sz="3700" dirty="0"/>
              <a:t>Python Scripting with Network</a:t>
            </a:r>
          </a:p>
        </p:txBody>
      </p:sp>
      <p:sp>
        <p:nvSpPr>
          <p:cNvPr id="3" name="Subtitle 2">
            <a:extLst>
              <a:ext uri="{FF2B5EF4-FFF2-40B4-BE49-F238E27FC236}">
                <a16:creationId xmlns:a16="http://schemas.microsoft.com/office/drawing/2014/main" id="{1767AC54-0FE9-0C64-0851-2225707E0491}"/>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dirty="0"/>
              <a:t>Day 13</a:t>
            </a:r>
          </a:p>
        </p:txBody>
      </p:sp>
    </p:spTree>
    <p:extLst>
      <p:ext uri="{BB962C8B-B14F-4D97-AF65-F5344CB8AC3E}">
        <p14:creationId xmlns:p14="http://schemas.microsoft.com/office/powerpoint/2010/main" val="20063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329184"/>
            <a:ext cx="6251110" cy="1783080"/>
          </a:xfrm>
        </p:spPr>
        <p:txBody>
          <a:bodyPr anchor="b">
            <a:normAutofit/>
          </a:bodyPr>
          <a:lstStyle/>
          <a:p>
            <a:r>
              <a:rPr lang="en-US" sz="5400" dirty="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a:bodyPr>
          <a:lstStyle/>
          <a:p>
            <a:r>
              <a:rPr lang="en-US" sz="2200" dirty="0">
                <a:ea typeface="Calibri" panose="020F0502020204030204"/>
                <a:cs typeface="Calibri" panose="020F0502020204030204"/>
              </a:rPr>
              <a:t>Network Automation with Python SNMP</a:t>
            </a:r>
          </a:p>
          <a:p>
            <a:r>
              <a:rPr lang="en-US" sz="2200" dirty="0">
                <a:ea typeface="Calibri" panose="020F0502020204030204"/>
                <a:cs typeface="Calibri" panose="020F0502020204030204"/>
              </a:rPr>
              <a:t>Device Inventory Collection</a:t>
            </a:r>
          </a:p>
          <a:p>
            <a:r>
              <a:rPr lang="en-US" sz="2200" dirty="0">
                <a:ea typeface="Calibri" panose="020F0502020204030204"/>
                <a:cs typeface="Calibri" panose="020F0502020204030204"/>
              </a:rPr>
              <a:t>Automated Backup</a:t>
            </a:r>
          </a:p>
          <a:p>
            <a:r>
              <a:rPr lang="en-US" sz="2200" dirty="0">
                <a:ea typeface="Calibri" panose="020F0502020204030204"/>
                <a:cs typeface="Calibri" panose="020F0502020204030204"/>
              </a:rPr>
              <a:t>CLI Parsing</a:t>
            </a:r>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B20CD-8B35-627E-14E3-0380358A726C}"/>
              </a:ext>
            </a:extLst>
          </p:cNvPr>
          <p:cNvSpPr>
            <a:spLocks noGrp="1"/>
          </p:cNvSpPr>
          <p:nvPr>
            <p:ph type="title"/>
          </p:nvPr>
        </p:nvSpPr>
        <p:spPr/>
        <p:txBody>
          <a:bodyPr/>
          <a:lstStyle/>
          <a:p>
            <a:r>
              <a:rPr lang="en-US" dirty="0"/>
              <a:t>Network Automation with Python SNMP</a:t>
            </a:r>
          </a:p>
        </p:txBody>
      </p:sp>
      <p:sp>
        <p:nvSpPr>
          <p:cNvPr id="3" name="Content Placeholder 2">
            <a:extLst>
              <a:ext uri="{FF2B5EF4-FFF2-40B4-BE49-F238E27FC236}">
                <a16:creationId xmlns:a16="http://schemas.microsoft.com/office/drawing/2014/main" id="{B6BAE6CC-F0C3-145A-21D5-469E53F6C163}"/>
              </a:ext>
            </a:extLst>
          </p:cNvPr>
          <p:cNvSpPr>
            <a:spLocks noGrp="1"/>
          </p:cNvSpPr>
          <p:nvPr>
            <p:ph idx="1"/>
          </p:nvPr>
        </p:nvSpPr>
        <p:spPr/>
        <p:txBody>
          <a:bodyPr>
            <a:normAutofit/>
          </a:bodyPr>
          <a:lstStyle/>
          <a:p>
            <a:r>
              <a:rPr lang="en-US" sz="1900" dirty="0"/>
              <a:t>The </a:t>
            </a:r>
            <a:r>
              <a:rPr lang="en-US" sz="1900" dirty="0" err="1">
                <a:hlinkClick r:id="rId2">
                  <a:extLst>
                    <a:ext uri="{A12FA001-AC4F-418D-AE19-62706E023703}">
                      <ahyp:hlinkClr xmlns:ahyp="http://schemas.microsoft.com/office/drawing/2018/hyperlinkcolor" val="tx"/>
                    </a:ext>
                  </a:extLst>
                </a:hlinkClick>
              </a:rPr>
              <a:t>pysnmp</a:t>
            </a:r>
            <a:r>
              <a:rPr lang="en-US" sz="1900" dirty="0"/>
              <a:t> library is a comprehensive Python toolkit for implementing SNMP operations, making it the perfect choice for building SNMP Python monitoring scripts. Installing </a:t>
            </a:r>
            <a:r>
              <a:rPr lang="en-US" sz="1900" dirty="0" err="1"/>
              <a:t>pysnmp</a:t>
            </a:r>
            <a:r>
              <a:rPr lang="en-US" sz="1900" dirty="0"/>
              <a:t> is straightforward using pip:</a:t>
            </a:r>
          </a:p>
          <a:p>
            <a:endParaRPr lang="en-US" sz="2000" dirty="0"/>
          </a:p>
          <a:p>
            <a:endParaRPr lang="en-US" sz="2000" dirty="0"/>
          </a:p>
          <a:p>
            <a:r>
              <a:rPr lang="en-US" sz="1900" dirty="0"/>
              <a:t>Effective SNMP Python monitoring relies on regularly polling network devices to collect vital statistics. Typical metrics include interface utilization, CPU load, and memory usage—key indicators of device health. Automating this process reduces manual effort and enhances real-time visibility into network performance.</a:t>
            </a:r>
          </a:p>
        </p:txBody>
      </p:sp>
    </p:spTree>
    <p:extLst>
      <p:ext uri="{BB962C8B-B14F-4D97-AF65-F5344CB8AC3E}">
        <p14:creationId xmlns:p14="http://schemas.microsoft.com/office/powerpoint/2010/main" val="1157428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65C4C-D615-66B5-E98D-6CD5842EA4A1}"/>
              </a:ext>
            </a:extLst>
          </p:cNvPr>
          <p:cNvSpPr>
            <a:spLocks noGrp="1"/>
          </p:cNvSpPr>
          <p:nvPr>
            <p:ph type="title"/>
          </p:nvPr>
        </p:nvSpPr>
        <p:spPr/>
        <p:txBody>
          <a:bodyPr/>
          <a:lstStyle/>
          <a:p>
            <a:r>
              <a:rPr lang="en-US" dirty="0"/>
              <a:t>Device Inventory Collection</a:t>
            </a:r>
          </a:p>
        </p:txBody>
      </p:sp>
      <p:sp>
        <p:nvSpPr>
          <p:cNvPr id="3" name="Content Placeholder 2">
            <a:extLst>
              <a:ext uri="{FF2B5EF4-FFF2-40B4-BE49-F238E27FC236}">
                <a16:creationId xmlns:a16="http://schemas.microsoft.com/office/drawing/2014/main" id="{F53D81C3-A8CE-F648-94FD-A33BC2FE12A9}"/>
              </a:ext>
            </a:extLst>
          </p:cNvPr>
          <p:cNvSpPr>
            <a:spLocks noGrp="1"/>
          </p:cNvSpPr>
          <p:nvPr>
            <p:ph idx="1"/>
          </p:nvPr>
        </p:nvSpPr>
        <p:spPr/>
        <p:txBody>
          <a:bodyPr>
            <a:normAutofit/>
          </a:bodyPr>
          <a:lstStyle/>
          <a:p>
            <a:r>
              <a:rPr lang="en-US" sz="1900" dirty="0"/>
              <a:t>Discovering network devices is the initial step in building a robust network inventory Python system. This process involves identifying connected devices through protocols like Cisco Discovery Protocol (CDP) and Link Layer Discovery Protocol (LLDP). </a:t>
            </a:r>
          </a:p>
          <a:p>
            <a:endParaRPr lang="en-US" sz="1900" dirty="0"/>
          </a:p>
          <a:p>
            <a:r>
              <a:rPr lang="en-US" sz="1900" dirty="0"/>
              <a:t>These protocols enable network devices such as switches and routers to advertise their identity and capabilities to neighbors, providing immediate visibility into the network topology.</a:t>
            </a:r>
          </a:p>
          <a:p>
            <a:endParaRPr lang="en-US" sz="1900" dirty="0"/>
          </a:p>
          <a:p>
            <a:r>
              <a:rPr lang="en-US" sz="1900" dirty="0"/>
              <a:t>Using Python libraries like </a:t>
            </a:r>
            <a:r>
              <a:rPr lang="en-US" sz="1900" dirty="0" err="1"/>
              <a:t>Netmiko</a:t>
            </a:r>
            <a:r>
              <a:rPr lang="en-US" sz="1900" dirty="0"/>
              <a:t> or NAPALM, engineers can automate SSH sessions to network devices, execute commands, and parse output to extract relevant facts. </a:t>
            </a:r>
          </a:p>
        </p:txBody>
      </p:sp>
    </p:spTree>
    <p:extLst>
      <p:ext uri="{BB962C8B-B14F-4D97-AF65-F5344CB8AC3E}">
        <p14:creationId xmlns:p14="http://schemas.microsoft.com/office/powerpoint/2010/main" val="2428767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D6AC8-723B-3926-2296-F10BC356E987}"/>
              </a:ext>
            </a:extLst>
          </p:cNvPr>
          <p:cNvSpPr>
            <a:spLocks noGrp="1"/>
          </p:cNvSpPr>
          <p:nvPr>
            <p:ph type="title"/>
          </p:nvPr>
        </p:nvSpPr>
        <p:spPr/>
        <p:txBody>
          <a:bodyPr/>
          <a:lstStyle/>
          <a:p>
            <a:r>
              <a:rPr lang="en-US" dirty="0"/>
              <a:t>Network Automation Automated Backup</a:t>
            </a:r>
          </a:p>
        </p:txBody>
      </p:sp>
      <p:sp>
        <p:nvSpPr>
          <p:cNvPr id="4" name="Content Placeholder 3">
            <a:extLst>
              <a:ext uri="{FF2B5EF4-FFF2-40B4-BE49-F238E27FC236}">
                <a16:creationId xmlns:a16="http://schemas.microsoft.com/office/drawing/2014/main" id="{3475C8D3-3429-EBE5-8522-C7053FEB0E50}"/>
              </a:ext>
            </a:extLst>
          </p:cNvPr>
          <p:cNvSpPr>
            <a:spLocks noGrp="1"/>
          </p:cNvSpPr>
          <p:nvPr>
            <p:ph idx="1"/>
          </p:nvPr>
        </p:nvSpPr>
        <p:spPr/>
        <p:txBody>
          <a:bodyPr/>
          <a:lstStyle/>
          <a:p>
            <a:r>
              <a:rPr lang="en-US" sz="1900" dirty="0"/>
              <a:t>To back up hardware configurations automatically, the Python community heavily relies on the </a:t>
            </a:r>
            <a:r>
              <a:rPr lang="en-US" sz="1900" dirty="0" err="1"/>
              <a:t>Netmiko</a:t>
            </a:r>
            <a:r>
              <a:rPr lang="en-US" sz="1900" dirty="0"/>
              <a:t> library. </a:t>
            </a:r>
            <a:r>
              <a:rPr lang="en-US" sz="1900" dirty="0" err="1"/>
              <a:t>Netmiko</a:t>
            </a:r>
            <a:r>
              <a:rPr lang="en-US" sz="1900" dirty="0"/>
              <a:t> simplifies SSH connections to retrieve device configurations and save them to text files. </a:t>
            </a:r>
          </a:p>
          <a:p>
            <a:endParaRPr lang="en-US" sz="1900" dirty="0"/>
          </a:p>
          <a:p>
            <a:r>
              <a:rPr lang="en-US" sz="1900" dirty="0"/>
              <a:t>To back up local files (e.g., documents, code, or images), you can use Python's built-in </a:t>
            </a:r>
            <a:r>
              <a:rPr lang="en-US" sz="1900" dirty="0" err="1"/>
              <a:t>shutil</a:t>
            </a:r>
            <a:r>
              <a:rPr lang="en-US" sz="1900" dirty="0"/>
              <a:t> and datetime libraries. This script creates a dated backup directory, copies the files over, and organizes your data. </a:t>
            </a:r>
          </a:p>
        </p:txBody>
      </p:sp>
    </p:spTree>
    <p:extLst>
      <p:ext uri="{BB962C8B-B14F-4D97-AF65-F5344CB8AC3E}">
        <p14:creationId xmlns:p14="http://schemas.microsoft.com/office/powerpoint/2010/main" val="4200769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12A29-C420-F6C7-43D0-DC774B32144E}"/>
              </a:ext>
            </a:extLst>
          </p:cNvPr>
          <p:cNvSpPr>
            <a:spLocks noGrp="1"/>
          </p:cNvSpPr>
          <p:nvPr>
            <p:ph type="title"/>
          </p:nvPr>
        </p:nvSpPr>
        <p:spPr/>
        <p:txBody>
          <a:bodyPr/>
          <a:lstStyle/>
          <a:p>
            <a:r>
              <a:rPr lang="en-US" dirty="0"/>
              <a:t>CLI Parsing</a:t>
            </a:r>
          </a:p>
        </p:txBody>
      </p:sp>
      <p:sp>
        <p:nvSpPr>
          <p:cNvPr id="3" name="Content Placeholder 2">
            <a:extLst>
              <a:ext uri="{FF2B5EF4-FFF2-40B4-BE49-F238E27FC236}">
                <a16:creationId xmlns:a16="http://schemas.microsoft.com/office/drawing/2014/main" id="{2ED93877-5179-34CD-7DDD-34FABB0EB579}"/>
              </a:ext>
            </a:extLst>
          </p:cNvPr>
          <p:cNvSpPr>
            <a:spLocks noGrp="1"/>
          </p:cNvSpPr>
          <p:nvPr>
            <p:ph idx="1"/>
          </p:nvPr>
        </p:nvSpPr>
        <p:spPr/>
        <p:txBody>
          <a:bodyPr>
            <a:normAutofit/>
          </a:bodyPr>
          <a:lstStyle/>
          <a:p>
            <a:r>
              <a:rPr lang="en-US" sz="1900" dirty="0" err="1"/>
              <a:t>TextFSM</a:t>
            </a:r>
            <a:r>
              <a:rPr lang="en-US" sz="1900" dirty="0"/>
              <a:t> is a Python library designed to parse semi-structured text output, particularly CLI commands from network devices, into structured data.</a:t>
            </a:r>
          </a:p>
          <a:p>
            <a:r>
              <a:rPr lang="en-US" sz="1900" dirty="0"/>
              <a:t> It achieves this through the use of templates that define how to interpret specific command outputs. </a:t>
            </a:r>
          </a:p>
          <a:p>
            <a:r>
              <a:rPr lang="en-US" sz="1900" dirty="0"/>
              <a:t>These templates specify patterns, value extraction rules, and data structures, allowing for consistent parsing across similar command outputs.</a:t>
            </a:r>
          </a:p>
          <a:p>
            <a:endParaRPr lang="en-US" sz="1900" dirty="0"/>
          </a:p>
          <a:p>
            <a:r>
              <a:rPr lang="en-US" dirty="0"/>
              <a:t> </a:t>
            </a:r>
            <a:r>
              <a:rPr lang="en-US" sz="1900" dirty="0"/>
              <a:t>TTP (Template Text Parser) offers a more Pythonic approach to CLI parsing, making template creation more intuitive for Python developers. TTP enables writing parsing rules directly in Python, improving readability and flexibility, especially for complex or multiline outputs.</a:t>
            </a:r>
          </a:p>
          <a:p>
            <a:endParaRPr lang="en-US" sz="1800" dirty="0"/>
          </a:p>
          <a:p>
            <a:endParaRPr lang="en-US" sz="1800" dirty="0"/>
          </a:p>
        </p:txBody>
      </p:sp>
    </p:spTree>
    <p:extLst>
      <p:ext uri="{BB962C8B-B14F-4D97-AF65-F5344CB8AC3E}">
        <p14:creationId xmlns:p14="http://schemas.microsoft.com/office/powerpoint/2010/main" val="1969476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dirty="0">
                <a:ea typeface="Calibri"/>
                <a:cs typeface="Calibri"/>
              </a:rPr>
              <a:t>Python Automation for Network engineering </a:t>
            </a:r>
          </a:p>
          <a:p>
            <a:pPr marL="0" indent="0">
              <a:buNone/>
            </a:pPr>
            <a:endParaRPr lang="en-US" dirty="0">
              <a:ea typeface="Calibri"/>
              <a:cs typeface="Calibri"/>
            </a:endParaRPr>
          </a:p>
          <a:p>
            <a:r>
              <a:rPr lang="en-US" dirty="0">
                <a:ea typeface="Calibri"/>
                <a:cs typeface="Calibri"/>
              </a:rPr>
              <a:t>Python Network Libraries</a:t>
            </a:r>
          </a:p>
          <a:p>
            <a:endParaRPr lang="en-US" dirty="0">
              <a:ea typeface="Calibri"/>
              <a:cs typeface="Calibri"/>
            </a:endParaRPr>
          </a:p>
          <a:p>
            <a:r>
              <a:rPr lang="en-US" dirty="0">
                <a:ea typeface="Calibri"/>
                <a:cs typeface="Calibri"/>
              </a:rPr>
              <a:t>Python logging data parsing</a:t>
            </a:r>
          </a:p>
          <a:p>
            <a:pPr marL="0" indent="0">
              <a:buNone/>
            </a:pPr>
            <a:endParaRPr lang="en-US" dirty="0">
              <a:ea typeface="Calibri"/>
              <a:cs typeface="Calibri"/>
            </a:endParaRPr>
          </a:p>
          <a:p>
            <a:r>
              <a:rPr lang="en-US" dirty="0">
                <a:ea typeface="Calibri"/>
                <a:cs typeface="Calibri"/>
              </a:rPr>
              <a:t> Python Reporting</a:t>
            </a: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3634</TotalTime>
  <Words>410</Words>
  <Application>Microsoft Office PowerPoint</Application>
  <PresentationFormat>Widescreen</PresentationFormat>
  <Paragraphs>36</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2013 - 2022 Theme</vt:lpstr>
      <vt:lpstr>Python Scripting with Network</vt:lpstr>
      <vt:lpstr>Agenda</vt:lpstr>
      <vt:lpstr>Network Automation with Python SNMP</vt:lpstr>
      <vt:lpstr>Device Inventory Collection</vt:lpstr>
      <vt:lpstr>Network Automation Automated Backup</vt:lpstr>
      <vt:lpstr>CLI Parsing</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68</cp:revision>
  <dcterms:created xsi:type="dcterms:W3CDTF">2026-04-11T17:33:10Z</dcterms:created>
  <dcterms:modified xsi:type="dcterms:W3CDTF">2026-06-07T14:51:37Z</dcterms:modified>
</cp:coreProperties>
</file>