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66" r:id="rId4"/>
    <p:sldId id="267" r:id="rId5"/>
    <p:sldId id="269" r:id="rId6"/>
    <p:sldId id="270" r:id="rId7"/>
    <p:sldId id="271" r:id="rId8"/>
    <p:sldId id="272" r:id="rId9"/>
    <p:sldId id="273" r:id="rId10"/>
    <p:sldId id="274" r:id="rId11"/>
    <p:sldId id="275" r:id="rId12"/>
    <p:sldId id="284" r:id="rId13"/>
    <p:sldId id="285" r:id="rId14"/>
    <p:sldId id="286" r:id="rId15"/>
    <p:sldId id="287" r:id="rId16"/>
    <p:sldId id="288" r:id="rId17"/>
    <p:sldId id="289" r:id="rId18"/>
    <p:sldId id="290" r:id="rId19"/>
    <p:sldId id="291" r:id="rId20"/>
    <p:sldId id="280"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5/25/2026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5/25/2026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5/25/2026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dirty="0"/>
              <a:t>Python Scripting with Network</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3</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dirty="0">
                <a:ea typeface="Calibri" panose="020F0502020204030204"/>
                <a:cs typeface="Calibri" panose="020F0502020204030204"/>
              </a:rPr>
              <a:t>Variables in Python</a:t>
            </a:r>
          </a:p>
          <a:p>
            <a:r>
              <a:rPr lang="en-US" sz="2200" dirty="0">
                <a:ea typeface="Calibri" panose="020F0502020204030204"/>
                <a:cs typeface="Calibri" panose="020F0502020204030204"/>
              </a:rPr>
              <a:t>Operators in Python</a:t>
            </a:r>
            <a:endParaRPr lang="en-US" dirty="0">
              <a:ea typeface="Calibri" panose="020F0502020204030204"/>
              <a:cs typeface="Calibri" panose="020F0502020204030204"/>
            </a:endParaRPr>
          </a:p>
          <a:p>
            <a:r>
              <a:rPr lang="en-US" sz="2200" dirty="0">
                <a:ea typeface="Calibri" panose="020F0502020204030204"/>
                <a:cs typeface="Calibri" panose="020F0502020204030204"/>
              </a:rPr>
              <a:t>Python Loops</a:t>
            </a:r>
            <a:endParaRPr lang="en-US" dirty="0">
              <a:ea typeface="Calibri" panose="020F0502020204030204"/>
              <a:cs typeface="Calibri" panose="020F0502020204030204"/>
            </a:endParaRPr>
          </a:p>
          <a:p>
            <a:r>
              <a:rPr lang="en-US" sz="2200" dirty="0">
                <a:ea typeface="Calibri" panose="020F0502020204030204"/>
                <a:cs typeface="Calibri" panose="020F0502020204030204"/>
              </a:rPr>
              <a:t>Conditional statements</a:t>
            </a:r>
          </a:p>
          <a:p>
            <a:r>
              <a:rPr lang="en-US" sz="2200" dirty="0">
                <a:ea typeface="Calibri" panose="020F0502020204030204"/>
                <a:cs typeface="Calibri" panose="020F0502020204030204"/>
              </a:rPr>
              <a:t>Python Files</a:t>
            </a:r>
          </a:p>
          <a:p>
            <a:r>
              <a:rPr lang="en-US" sz="2200" dirty="0">
                <a:ea typeface="Calibri" panose="020F0502020204030204"/>
                <a:cs typeface="Calibri" panose="020F0502020204030204"/>
              </a:rPr>
              <a:t>Python Exception Handling</a:t>
            </a:r>
          </a:p>
          <a:p>
            <a:r>
              <a:rPr lang="en-US" sz="2200" dirty="0">
                <a:ea typeface="Calibri" panose="020F0502020204030204"/>
                <a:cs typeface="Calibri" panose="020F0502020204030204"/>
              </a:rPr>
              <a:t>Python Classes</a:t>
            </a:r>
          </a:p>
          <a:p>
            <a:r>
              <a:rPr lang="en-US" sz="2200" dirty="0">
                <a:ea typeface="Calibri" panose="020F0502020204030204"/>
                <a:cs typeface="Calibri" panose="020F0502020204030204"/>
              </a:rPr>
              <a:t>Python Functions </a:t>
            </a: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346FE-4E09-C356-AB28-CB782DAC4923}"/>
              </a:ext>
            </a:extLst>
          </p:cNvPr>
          <p:cNvSpPr>
            <a:spLocks noGrp="1"/>
          </p:cNvSpPr>
          <p:nvPr>
            <p:ph type="title"/>
          </p:nvPr>
        </p:nvSpPr>
        <p:spPr>
          <a:xfrm>
            <a:off x="876693" y="741391"/>
            <a:ext cx="3455821" cy="1616203"/>
          </a:xfrm>
        </p:spPr>
        <p:txBody>
          <a:bodyPr anchor="b">
            <a:normAutofit/>
          </a:bodyPr>
          <a:lstStyle/>
          <a:p>
            <a:r>
              <a:rPr lang="en-US" sz="3200"/>
              <a:t>Python variables </a:t>
            </a:r>
          </a:p>
        </p:txBody>
      </p:sp>
      <p:sp>
        <p:nvSpPr>
          <p:cNvPr id="3" name="Content Placeholder 2">
            <a:extLst>
              <a:ext uri="{FF2B5EF4-FFF2-40B4-BE49-F238E27FC236}">
                <a16:creationId xmlns:a16="http://schemas.microsoft.com/office/drawing/2014/main" id="{15204D52-8C50-848B-EB7F-1CE477320D8D}"/>
              </a:ext>
            </a:extLst>
          </p:cNvPr>
          <p:cNvSpPr>
            <a:spLocks noGrp="1"/>
          </p:cNvSpPr>
          <p:nvPr>
            <p:ph idx="1"/>
          </p:nvPr>
        </p:nvSpPr>
        <p:spPr>
          <a:xfrm>
            <a:off x="876693" y="2533476"/>
            <a:ext cx="3455821" cy="3447832"/>
          </a:xfrm>
        </p:spPr>
        <p:txBody>
          <a:bodyPr vert="horz" lIns="91440" tIns="45720" rIns="91440" bIns="45720" rtlCol="0" anchor="t">
            <a:normAutofit/>
          </a:bodyPr>
          <a:lstStyle/>
          <a:p>
            <a:r>
              <a:rPr lang="en-US" sz="2000" dirty="0"/>
              <a:t>A python variable is like a container which stores data temporarily. </a:t>
            </a:r>
          </a:p>
          <a:p>
            <a:r>
              <a:rPr lang="en-US" sz="2000" dirty="0"/>
              <a:t>Variables keep values accessible. </a:t>
            </a:r>
          </a:p>
          <a:p>
            <a:r>
              <a:rPr lang="en-US" sz="2000" dirty="0"/>
              <a:t>Variables make changes easy </a:t>
            </a:r>
          </a:p>
          <a:p>
            <a:r>
              <a:rPr lang="en-US" sz="2000" dirty="0"/>
              <a:t>Variables have data types. </a:t>
            </a:r>
            <a:br>
              <a:rPr lang="en-US" sz="2000" dirty="0"/>
            </a:br>
            <a:endParaRPr lang="en-US" sz="2000" dirty="0">
              <a:ea typeface="Calibri"/>
              <a:cs typeface="Calibri"/>
            </a:endParaRPr>
          </a:p>
          <a:p>
            <a:pPr>
              <a:buFont typeface="Wingdings" panose="020B0604020202020204" pitchFamily="34" charset="0"/>
              <a:buChar char="q"/>
            </a:pPr>
            <a:endParaRPr lang="en-US" sz="2000" dirty="0">
              <a:ea typeface="Calibri"/>
              <a:cs typeface="Calibri"/>
            </a:endParaRPr>
          </a:p>
          <a:p>
            <a:pPr>
              <a:buFont typeface="Wingdings" panose="020B0604020202020204" pitchFamily="34" charset="0"/>
              <a:buChar char="q"/>
            </a:pPr>
            <a:endParaRPr lang="en-US" sz="2000" dirty="0">
              <a:ea typeface="Calibri"/>
              <a:cs typeface="Calibri"/>
            </a:endParaRPr>
          </a:p>
        </p:txBody>
      </p:sp>
      <p:pic>
        <p:nvPicPr>
          <p:cNvPr id="4" name="Picture 3">
            <a:extLst>
              <a:ext uri="{FF2B5EF4-FFF2-40B4-BE49-F238E27FC236}">
                <a16:creationId xmlns:a16="http://schemas.microsoft.com/office/drawing/2014/main" id="{F43AE9BA-B5F8-1E6A-FBEA-11E278937083}"/>
              </a:ext>
            </a:extLst>
          </p:cNvPr>
          <p:cNvPicPr>
            <a:picLocks noChangeAspect="1"/>
          </p:cNvPicPr>
          <p:nvPr/>
        </p:nvPicPr>
        <p:blipFill>
          <a:blip r:embed="rId2"/>
          <a:stretch>
            <a:fillRect/>
          </a:stretch>
        </p:blipFill>
        <p:spPr>
          <a:xfrm>
            <a:off x="5005632" y="741391"/>
            <a:ext cx="6353425" cy="5384528"/>
          </a:xfrm>
          <a:prstGeom prst="rect">
            <a:avLst/>
          </a:prstGeom>
        </p:spPr>
      </p:pic>
      <p:grpSp>
        <p:nvGrpSpPr>
          <p:cNvPr id="18" name="Group 17">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9" name="Rectangle 18">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80454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CE5504-5476-50E1-7AAF-3C5E510D8B94}"/>
              </a:ext>
            </a:extLst>
          </p:cNvPr>
          <p:cNvSpPr>
            <a:spLocks noGrp="1"/>
          </p:cNvSpPr>
          <p:nvPr>
            <p:ph type="title"/>
          </p:nvPr>
        </p:nvSpPr>
        <p:spPr>
          <a:xfrm>
            <a:off x="838200" y="609600"/>
            <a:ext cx="9605303" cy="1330839"/>
          </a:xfrm>
        </p:spPr>
        <p:txBody>
          <a:bodyPr>
            <a:normAutofit/>
          </a:bodyPr>
          <a:lstStyle/>
          <a:p>
            <a:r>
              <a:rPr lang="en-US" dirty="0"/>
              <a:t>Python Operators</a:t>
            </a:r>
          </a:p>
        </p:txBody>
      </p:sp>
      <p:sp>
        <p:nvSpPr>
          <p:cNvPr id="3" name="Content Placeholder 2">
            <a:extLst>
              <a:ext uri="{FF2B5EF4-FFF2-40B4-BE49-F238E27FC236}">
                <a16:creationId xmlns:a16="http://schemas.microsoft.com/office/drawing/2014/main" id="{F232724B-90E2-3EA5-37A9-8457D0A9F036}"/>
              </a:ext>
            </a:extLst>
          </p:cNvPr>
          <p:cNvSpPr>
            <a:spLocks noGrp="1"/>
          </p:cNvSpPr>
          <p:nvPr>
            <p:ph idx="1"/>
          </p:nvPr>
        </p:nvSpPr>
        <p:spPr>
          <a:xfrm>
            <a:off x="833612" y="1705272"/>
            <a:ext cx="9868056" cy="4397416"/>
          </a:xfrm>
        </p:spPr>
        <p:txBody>
          <a:bodyPr vert="horz" lIns="91440" tIns="45720" rIns="91440" bIns="45720" rtlCol="0" anchor="t">
            <a:noAutofit/>
          </a:bodyPr>
          <a:lstStyle/>
          <a:p>
            <a:r>
              <a:rPr lang="en-US" sz="1400" dirty="0">
                <a:ea typeface="Calibri"/>
                <a:cs typeface="Calibri"/>
              </a:rPr>
              <a:t>Operators in Python are used to perform operations on variables and values. They are the following types – </a:t>
            </a:r>
          </a:p>
          <a:p>
            <a:endParaRPr lang="en-US" sz="1400" dirty="0">
              <a:ea typeface="Calibri"/>
              <a:cs typeface="Calibri"/>
            </a:endParaRPr>
          </a:p>
          <a:p>
            <a:r>
              <a:rPr lang="en-US" sz="1400" dirty="0">
                <a:ea typeface="Calibri"/>
                <a:cs typeface="Calibri"/>
              </a:rPr>
              <a:t>Arithmetic operators </a:t>
            </a:r>
          </a:p>
          <a:p>
            <a:r>
              <a:rPr lang="en-US" sz="1400" dirty="0">
                <a:ea typeface="Calibri"/>
                <a:cs typeface="Calibri"/>
              </a:rPr>
              <a:t>Assignment operators </a:t>
            </a:r>
          </a:p>
          <a:p>
            <a:r>
              <a:rPr lang="en-US" sz="1400" dirty="0">
                <a:ea typeface="Calibri"/>
                <a:cs typeface="Calibri"/>
              </a:rPr>
              <a:t>Comparison operators </a:t>
            </a:r>
          </a:p>
          <a:p>
            <a:r>
              <a:rPr lang="en-US" sz="1400" dirty="0">
                <a:ea typeface="Calibri"/>
                <a:cs typeface="Calibri"/>
              </a:rPr>
              <a:t>Logical operators </a:t>
            </a:r>
          </a:p>
          <a:p>
            <a:r>
              <a:rPr lang="en-US" sz="1400" dirty="0">
                <a:ea typeface="Calibri"/>
                <a:cs typeface="Calibri"/>
              </a:rPr>
              <a:t>Identity operators </a:t>
            </a:r>
          </a:p>
          <a:p>
            <a:r>
              <a:rPr lang="en-US" sz="1400" dirty="0" err="1">
                <a:ea typeface="Calibri"/>
                <a:cs typeface="Calibri"/>
              </a:rPr>
              <a:t>Memebership</a:t>
            </a:r>
            <a:r>
              <a:rPr lang="en-US" sz="1400" dirty="0">
                <a:ea typeface="Calibri"/>
                <a:cs typeface="Calibri"/>
              </a:rPr>
              <a:t> operators </a:t>
            </a:r>
          </a:p>
        </p:txBody>
      </p:sp>
    </p:spTree>
    <p:extLst>
      <p:ext uri="{BB962C8B-B14F-4D97-AF65-F5344CB8AC3E}">
        <p14:creationId xmlns:p14="http://schemas.microsoft.com/office/powerpoint/2010/main" val="2562354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7275002-1ED1-EFB6-B864-C7DA683F5726}"/>
              </a:ext>
            </a:extLst>
          </p:cNvPr>
          <p:cNvSpPr>
            <a:spLocks noGrp="1"/>
          </p:cNvSpPr>
          <p:nvPr>
            <p:ph type="title"/>
          </p:nvPr>
        </p:nvSpPr>
        <p:spPr>
          <a:xfrm>
            <a:off x="1050770" y="5748"/>
            <a:ext cx="10068156" cy="1417105"/>
          </a:xfrm>
        </p:spPr>
        <p:txBody>
          <a:bodyPr>
            <a:normAutofit/>
          </a:bodyPr>
          <a:lstStyle/>
          <a:p>
            <a:r>
              <a:rPr lang="en-US" dirty="0">
                <a:ea typeface="Calibri Light"/>
                <a:cs typeface="Calibri Light"/>
              </a:rPr>
              <a:t>Loops in Python</a:t>
            </a:r>
          </a:p>
        </p:txBody>
      </p:sp>
      <p:sp>
        <p:nvSpPr>
          <p:cNvPr id="3" name="Content Placeholder 2">
            <a:extLst>
              <a:ext uri="{FF2B5EF4-FFF2-40B4-BE49-F238E27FC236}">
                <a16:creationId xmlns:a16="http://schemas.microsoft.com/office/drawing/2014/main" id="{46C93B46-87CE-FCD3-578C-CC70F36DF64A}"/>
              </a:ext>
            </a:extLst>
          </p:cNvPr>
          <p:cNvSpPr>
            <a:spLocks noGrp="1"/>
          </p:cNvSpPr>
          <p:nvPr>
            <p:ph idx="1"/>
          </p:nvPr>
        </p:nvSpPr>
        <p:spPr>
          <a:xfrm>
            <a:off x="375034" y="1421985"/>
            <a:ext cx="7029304" cy="4794791"/>
          </a:xfrm>
        </p:spPr>
        <p:txBody>
          <a:bodyPr vert="horz" lIns="91440" tIns="45720" rIns="91440" bIns="45720" rtlCol="0" anchor="t">
            <a:noAutofit/>
          </a:bodyPr>
          <a:lstStyle/>
          <a:p>
            <a:endParaRPr lang="en-US" sz="1200" dirty="0">
              <a:solidFill>
                <a:srgbClr val="161616"/>
              </a:solidFill>
              <a:highlight>
                <a:srgbClr val="FFFFFF"/>
              </a:highlight>
              <a:latin typeface="Segoe UI"/>
              <a:ea typeface="Calibri"/>
              <a:cs typeface="Segoe UI"/>
            </a:endParaRPr>
          </a:p>
          <a:p>
            <a:r>
              <a:rPr lang="en-US" b="1" dirty="0"/>
              <a:t>For Loop </a:t>
            </a:r>
          </a:p>
          <a:p>
            <a:r>
              <a:rPr lang="en-US" sz="1200" dirty="0">
                <a:solidFill>
                  <a:srgbClr val="161616"/>
                </a:solidFill>
                <a:highlight>
                  <a:srgbClr val="FFFFFF"/>
                </a:highlight>
                <a:latin typeface="Segoe UI"/>
                <a:cs typeface="Segoe UI"/>
              </a:rPr>
              <a:t>The for loop lets you run a block of code of each item in an </a:t>
            </a:r>
            <a:r>
              <a:rPr lang="en-US" sz="1200" dirty="0" err="1">
                <a:solidFill>
                  <a:srgbClr val="161616"/>
                </a:solidFill>
                <a:highlight>
                  <a:srgbClr val="FFFFFF"/>
                </a:highlight>
                <a:latin typeface="Segoe UI"/>
                <a:cs typeface="Segoe UI"/>
              </a:rPr>
              <a:t>iterable</a:t>
            </a:r>
            <a:r>
              <a:rPr lang="en-US" sz="1200" dirty="0">
                <a:solidFill>
                  <a:srgbClr val="161616"/>
                </a:solidFill>
                <a:highlight>
                  <a:srgbClr val="FFFFFF"/>
                </a:highlight>
                <a:latin typeface="Segoe UI"/>
                <a:cs typeface="Segoe UI"/>
              </a:rPr>
              <a:t> like a list, string, tuple, set or dictionary. </a:t>
            </a:r>
          </a:p>
          <a:p>
            <a:endParaRPr lang="en-US" sz="800" dirty="0">
              <a:highlight>
                <a:srgbClr val="1F1F1F"/>
              </a:highlight>
              <a:latin typeface="Segoe UI"/>
              <a:ea typeface="Calibri"/>
              <a:cs typeface="Segoe UI"/>
            </a:endParaRPr>
          </a:p>
          <a:p>
            <a:endParaRPr lang="en-US" sz="800" dirty="0">
              <a:highlight>
                <a:srgbClr val="1F1F1F"/>
              </a:highlight>
              <a:latin typeface="Segoe UI"/>
              <a:ea typeface="Calibri"/>
              <a:cs typeface="Segoe UI"/>
            </a:endParaRPr>
          </a:p>
          <a:p>
            <a:endParaRPr lang="en-US" sz="800" dirty="0">
              <a:highlight>
                <a:srgbClr val="1F1F1F"/>
              </a:highlight>
              <a:latin typeface="Segoe UI"/>
              <a:ea typeface="Calibri"/>
              <a:cs typeface="Segoe UI"/>
            </a:endParaRPr>
          </a:p>
        </p:txBody>
      </p:sp>
      <p:sp>
        <p:nvSpPr>
          <p:cNvPr id="29" name="Freeform: Shape 2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00BB4CC4-6DA7-A1A4-2ABE-98D5122821E4}"/>
              </a:ext>
            </a:extLst>
          </p:cNvPr>
          <p:cNvPicPr>
            <a:picLocks noChangeAspect="1"/>
          </p:cNvPicPr>
          <p:nvPr/>
        </p:nvPicPr>
        <p:blipFill>
          <a:blip r:embed="rId2"/>
          <a:stretch>
            <a:fillRect/>
          </a:stretch>
        </p:blipFill>
        <p:spPr>
          <a:xfrm>
            <a:off x="615779" y="2920475"/>
            <a:ext cx="7772400" cy="1017049"/>
          </a:xfrm>
          <a:prstGeom prst="rect">
            <a:avLst/>
          </a:prstGeom>
        </p:spPr>
      </p:pic>
      <p:sp>
        <p:nvSpPr>
          <p:cNvPr id="6" name="TextBox 5">
            <a:extLst>
              <a:ext uri="{FF2B5EF4-FFF2-40B4-BE49-F238E27FC236}">
                <a16:creationId xmlns:a16="http://schemas.microsoft.com/office/drawing/2014/main" id="{A03FCE4C-5111-8B94-DBB4-6BA650C61E01}"/>
              </a:ext>
            </a:extLst>
          </p:cNvPr>
          <p:cNvSpPr txBox="1"/>
          <p:nvPr/>
        </p:nvSpPr>
        <p:spPr>
          <a:xfrm>
            <a:off x="778476" y="4337222"/>
            <a:ext cx="8130746" cy="1908215"/>
          </a:xfrm>
          <a:prstGeom prst="rect">
            <a:avLst/>
          </a:prstGeom>
          <a:noFill/>
        </p:spPr>
        <p:txBody>
          <a:bodyPr wrap="square" rtlCol="0">
            <a:spAutoFit/>
          </a:bodyPr>
          <a:lstStyle/>
          <a:p>
            <a:pPr marL="285750" indent="-285750">
              <a:buFont typeface="Arial" panose="020B0604020202020204" pitchFamily="34" charset="0"/>
              <a:buChar char="•"/>
            </a:pPr>
            <a:r>
              <a:rPr lang="en-US" sz="1600" b="1" dirty="0"/>
              <a:t>For keyword</a:t>
            </a:r>
            <a:r>
              <a:rPr lang="en-US" sz="1600" dirty="0"/>
              <a:t>: This starts the loop. It tells python you want to begin the loop. </a:t>
            </a:r>
          </a:p>
          <a:p>
            <a:pPr marL="285750" indent="-285750">
              <a:buFont typeface="Arial" panose="020B0604020202020204" pitchFamily="34" charset="0"/>
              <a:buChar char="•"/>
            </a:pPr>
            <a:r>
              <a:rPr lang="en-US" sz="1600" b="1" dirty="0"/>
              <a:t>Loop variable </a:t>
            </a:r>
            <a:r>
              <a:rPr lang="en-US" sz="1600" dirty="0"/>
              <a:t>- </a:t>
            </a:r>
            <a:r>
              <a:rPr lang="en-IN" sz="1600" b="1" dirty="0"/>
              <a:t>n for </a:t>
            </a:r>
            <a:r>
              <a:rPr lang="en-IN" sz="1600" b="1" dirty="0" err="1"/>
              <a:t>ip</a:t>
            </a:r>
            <a:r>
              <a:rPr lang="en-IN" sz="1600" b="1" dirty="0"/>
              <a:t> in </a:t>
            </a:r>
            <a:r>
              <a:rPr lang="en-IN" sz="1600" b="1" dirty="0" err="1"/>
              <a:t>ip_list</a:t>
            </a:r>
            <a:r>
              <a:rPr lang="en-IN" sz="1600" dirty="0"/>
              <a:t>:, </a:t>
            </a:r>
            <a:r>
              <a:rPr lang="en-IN" sz="1600" dirty="0" err="1"/>
              <a:t>ip</a:t>
            </a:r>
            <a:r>
              <a:rPr lang="en-IN" sz="1600" dirty="0"/>
              <a:t> is the loop variable. It’s a temporary variable that represents each item in the </a:t>
            </a:r>
            <a:r>
              <a:rPr lang="en-IN" sz="1600" dirty="0" err="1"/>
              <a:t>iterable</a:t>
            </a:r>
            <a:r>
              <a:rPr lang="en-IN" sz="1600" dirty="0"/>
              <a:t> during each loop cycle.</a:t>
            </a:r>
          </a:p>
          <a:p>
            <a:pPr marL="285750" indent="-285750">
              <a:buFont typeface="Arial" panose="020B0604020202020204" pitchFamily="34" charset="0"/>
              <a:buChar char="•"/>
            </a:pPr>
            <a:r>
              <a:rPr lang="en-IN" sz="1600" b="1" dirty="0"/>
              <a:t>Looping object </a:t>
            </a:r>
            <a:r>
              <a:rPr lang="en-IN" sz="1600" dirty="0"/>
              <a:t>- </a:t>
            </a:r>
            <a:r>
              <a:rPr lang="en-IN" b="1" dirty="0"/>
              <a:t>(</a:t>
            </a:r>
            <a:r>
              <a:rPr lang="en-IN" b="1" dirty="0" err="1"/>
              <a:t>ip_list</a:t>
            </a:r>
            <a:r>
              <a:rPr lang="en-IN" b="1" dirty="0"/>
              <a:t>)</a:t>
            </a:r>
            <a:r>
              <a:rPr lang="en-IN" dirty="0"/>
              <a:t>: </a:t>
            </a:r>
            <a:r>
              <a:rPr lang="en-IN" sz="1600" dirty="0" err="1"/>
              <a:t>ip_list</a:t>
            </a:r>
            <a:r>
              <a:rPr lang="en-IN" sz="1600" dirty="0"/>
              <a:t> is the list you want to loop over. In each loop cycle, the loop variable </a:t>
            </a:r>
            <a:r>
              <a:rPr lang="en-IN" sz="1600" dirty="0" err="1"/>
              <a:t>ip</a:t>
            </a:r>
            <a:r>
              <a:rPr lang="en-IN" sz="1600" dirty="0"/>
              <a:t> takes the value of the next item in the list.</a:t>
            </a:r>
          </a:p>
          <a:p>
            <a:pPr marL="285750" indent="-285750">
              <a:buFont typeface="Arial" panose="020B0604020202020204" pitchFamily="34" charset="0"/>
              <a:buChar char="•"/>
            </a:pPr>
            <a:r>
              <a:rPr lang="en-IN" sz="1600" b="1" dirty="0"/>
              <a:t>Indented block </a:t>
            </a:r>
            <a:r>
              <a:rPr lang="en-IN" sz="1600" dirty="0"/>
              <a:t>- The indented code under the for loop is what runs in each loop cycle. Here, it’s print(</a:t>
            </a:r>
            <a:r>
              <a:rPr lang="en-IN" sz="1600" dirty="0" err="1"/>
              <a:t>ip</a:t>
            </a:r>
            <a:r>
              <a:rPr lang="en-IN" sz="1600" dirty="0"/>
              <a:t>).</a:t>
            </a:r>
            <a:endParaRPr lang="en-US" sz="1600" dirty="0"/>
          </a:p>
        </p:txBody>
      </p:sp>
    </p:spTree>
    <p:extLst>
      <p:ext uri="{BB962C8B-B14F-4D97-AF65-F5344CB8AC3E}">
        <p14:creationId xmlns:p14="http://schemas.microsoft.com/office/powerpoint/2010/main" val="606416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08283-2637-E98D-FC33-16868C2F082B}"/>
              </a:ext>
            </a:extLst>
          </p:cNvPr>
          <p:cNvSpPr>
            <a:spLocks noGrp="1"/>
          </p:cNvSpPr>
          <p:nvPr>
            <p:ph type="title"/>
          </p:nvPr>
        </p:nvSpPr>
        <p:spPr>
          <a:xfrm>
            <a:off x="876693" y="741391"/>
            <a:ext cx="5219307" cy="1616203"/>
          </a:xfrm>
        </p:spPr>
        <p:txBody>
          <a:bodyPr anchor="b">
            <a:normAutofit/>
          </a:bodyPr>
          <a:lstStyle/>
          <a:p>
            <a:r>
              <a:rPr lang="en-US" sz="3200">
                <a:ea typeface="Calibri Light"/>
                <a:cs typeface="Calibri Light"/>
              </a:rPr>
              <a:t>Nesting Loops in Python</a:t>
            </a:r>
          </a:p>
        </p:txBody>
      </p:sp>
      <p:sp>
        <p:nvSpPr>
          <p:cNvPr id="3" name="Content Placeholder 2">
            <a:extLst>
              <a:ext uri="{FF2B5EF4-FFF2-40B4-BE49-F238E27FC236}">
                <a16:creationId xmlns:a16="http://schemas.microsoft.com/office/drawing/2014/main" id="{A5594B27-688E-7B71-AB9C-75CB2D6B7FF1}"/>
              </a:ext>
            </a:extLst>
          </p:cNvPr>
          <p:cNvSpPr>
            <a:spLocks noGrp="1"/>
          </p:cNvSpPr>
          <p:nvPr>
            <p:ph idx="1"/>
          </p:nvPr>
        </p:nvSpPr>
        <p:spPr>
          <a:xfrm>
            <a:off x="876692" y="2533476"/>
            <a:ext cx="5219307" cy="3537410"/>
          </a:xfrm>
        </p:spPr>
        <p:txBody>
          <a:bodyPr vert="horz" lIns="91440" tIns="45720" rIns="91440" bIns="45720" rtlCol="0" anchor="t">
            <a:normAutofit lnSpcReduction="10000"/>
          </a:bodyPr>
          <a:lstStyle/>
          <a:p>
            <a:r>
              <a:rPr lang="en-IN" sz="2000" b="1" dirty="0">
                <a:highlight>
                  <a:srgbClr val="FFFFFF"/>
                </a:highlight>
              </a:rPr>
              <a:t>Nesting loops </a:t>
            </a:r>
            <a:r>
              <a:rPr lang="en-IN" sz="2000" dirty="0">
                <a:highlight>
                  <a:srgbClr val="FFFFFF"/>
                </a:highlight>
              </a:rPr>
              <a:t>in Python means putting one loop inside another. This lets you create more complex patterns and work with multiple levels of data. </a:t>
            </a:r>
          </a:p>
          <a:p>
            <a:r>
              <a:rPr lang="en-IN" sz="2000" b="1" dirty="0">
                <a:highlight>
                  <a:srgbClr val="FFFFFF"/>
                </a:highlight>
              </a:rPr>
              <a:t>Outer Loop </a:t>
            </a:r>
            <a:r>
              <a:rPr lang="en-IN" sz="2000" dirty="0">
                <a:highlight>
                  <a:srgbClr val="FFFFFF"/>
                </a:highlight>
              </a:rPr>
              <a:t>– The outer for loop goes through </a:t>
            </a:r>
            <a:r>
              <a:rPr lang="en-IN" sz="2000" dirty="0" err="1">
                <a:highlight>
                  <a:srgbClr val="FFFFFF"/>
                </a:highlight>
              </a:rPr>
              <a:t>data_centers</a:t>
            </a:r>
            <a:r>
              <a:rPr lang="en-IN" sz="2000" dirty="0">
                <a:highlight>
                  <a:srgbClr val="FFFFFF"/>
                </a:highlight>
              </a:rPr>
              <a:t> list. In each </a:t>
            </a:r>
            <a:r>
              <a:rPr lang="en-IN" sz="2000" dirty="0" err="1">
                <a:highlight>
                  <a:srgbClr val="FFFFFF"/>
                </a:highlight>
              </a:rPr>
              <a:t>loop_cycle</a:t>
            </a:r>
            <a:r>
              <a:rPr lang="en-IN" sz="2000" dirty="0">
                <a:highlight>
                  <a:srgbClr val="FFFFFF"/>
                </a:highlight>
              </a:rPr>
              <a:t>, dc gets the first value of the tuple and </a:t>
            </a:r>
            <a:r>
              <a:rPr lang="en-IN" sz="2000" dirty="0" err="1">
                <a:highlight>
                  <a:srgbClr val="FFFFFF"/>
                </a:highlight>
              </a:rPr>
              <a:t>ip</a:t>
            </a:r>
            <a:r>
              <a:rPr lang="en-IN" sz="2000" dirty="0">
                <a:highlight>
                  <a:srgbClr val="FFFFFF"/>
                </a:highlight>
              </a:rPr>
              <a:t> gets the second value. </a:t>
            </a:r>
          </a:p>
          <a:p>
            <a:r>
              <a:rPr lang="en-IN" sz="2000" b="1" dirty="0">
                <a:highlight>
                  <a:srgbClr val="FFFFFF"/>
                </a:highlight>
              </a:rPr>
              <a:t>Inner for loop </a:t>
            </a:r>
            <a:r>
              <a:rPr lang="en-IN" sz="2000" dirty="0">
                <a:highlight>
                  <a:srgbClr val="FFFFFF"/>
                </a:highlight>
              </a:rPr>
              <a:t>– Inside the outer loop, there’s another for loop, the inner loop generates numbers 1 to 2. In each cycle of inner loop, </a:t>
            </a:r>
            <a:r>
              <a:rPr lang="en-IN" sz="2000" dirty="0" err="1">
                <a:highlight>
                  <a:srgbClr val="FFFFFF"/>
                </a:highlight>
              </a:rPr>
              <a:t>i</a:t>
            </a:r>
            <a:r>
              <a:rPr lang="en-IN" sz="2000" dirty="0">
                <a:highlight>
                  <a:srgbClr val="FFFFFF"/>
                </a:highlight>
              </a:rPr>
              <a:t> gets the number in the range.</a:t>
            </a:r>
          </a:p>
          <a:p>
            <a:endParaRPr lang="en-US" sz="2000" dirty="0">
              <a:latin typeface="Calibri"/>
              <a:ea typeface="Calibri"/>
              <a:cs typeface="Calibri"/>
            </a:endParaRPr>
          </a:p>
          <a:p>
            <a:endParaRPr lang="en-US" sz="2000" dirty="0">
              <a:latin typeface="Calibri"/>
              <a:ea typeface="Calibri"/>
              <a:cs typeface="Calibri"/>
            </a:endParaRPr>
          </a:p>
          <a:p>
            <a:endParaRPr lang="en-US" sz="2000" dirty="0">
              <a:ea typeface="Calibri"/>
              <a:cs typeface="Calibri"/>
            </a:endParaRPr>
          </a:p>
        </p:txBody>
      </p:sp>
      <p:pic>
        <p:nvPicPr>
          <p:cNvPr id="4" name="Picture 3">
            <a:extLst>
              <a:ext uri="{FF2B5EF4-FFF2-40B4-BE49-F238E27FC236}">
                <a16:creationId xmlns:a16="http://schemas.microsoft.com/office/drawing/2014/main" id="{A9B4D9FC-F4EC-9A86-8842-F88AA118F0EA}"/>
              </a:ext>
            </a:extLst>
          </p:cNvPr>
          <p:cNvPicPr>
            <a:picLocks noChangeAspect="1"/>
          </p:cNvPicPr>
          <p:nvPr/>
        </p:nvPicPr>
        <p:blipFill>
          <a:blip r:embed="rId2"/>
          <a:stretch>
            <a:fillRect/>
          </a:stretch>
        </p:blipFill>
        <p:spPr>
          <a:xfrm>
            <a:off x="7008019" y="3049730"/>
            <a:ext cx="4273463" cy="758539"/>
          </a:xfrm>
          <a:prstGeom prst="rect">
            <a:avLst/>
          </a:prstGeom>
        </p:spPr>
      </p:pic>
      <p:grpSp>
        <p:nvGrpSpPr>
          <p:cNvPr id="15" name="Group 14">
            <a:extLst>
              <a:ext uri="{FF2B5EF4-FFF2-40B4-BE49-F238E27FC236}">
                <a16:creationId xmlns:a16="http://schemas.microsoft.com/office/drawing/2014/main" id="{C54A2A4D-19EF-3552-F383-6AD9587C8A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6" name="Rectangle 15">
              <a:extLst>
                <a:ext uri="{FF2B5EF4-FFF2-40B4-BE49-F238E27FC236}">
                  <a16:creationId xmlns:a16="http://schemas.microsoft.com/office/drawing/2014/main" id="{A9208F0F-2734-3945-8FD0-EEB19CF41A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2CFF5D9-43B9-9D58-6F3F-25041716D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03564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F40DBB-8006-D582-F717-BB20A1C1D616}"/>
              </a:ext>
            </a:extLst>
          </p:cNvPr>
          <p:cNvSpPr>
            <a:spLocks noGrp="1"/>
          </p:cNvSpPr>
          <p:nvPr>
            <p:ph type="title"/>
          </p:nvPr>
        </p:nvSpPr>
        <p:spPr>
          <a:xfrm>
            <a:off x="793662" y="386930"/>
            <a:ext cx="10066122" cy="1298448"/>
          </a:xfrm>
        </p:spPr>
        <p:txBody>
          <a:bodyPr anchor="b">
            <a:normAutofit/>
          </a:bodyPr>
          <a:lstStyle/>
          <a:p>
            <a:r>
              <a:rPr lang="en-US" sz="4800"/>
              <a:t>While Loop in Python</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074A95C-ABA3-9B8E-B1BE-A16BAD4E10D8}"/>
              </a:ext>
            </a:extLst>
          </p:cNvPr>
          <p:cNvSpPr>
            <a:spLocks noGrp="1"/>
          </p:cNvSpPr>
          <p:nvPr>
            <p:ph idx="1"/>
          </p:nvPr>
        </p:nvSpPr>
        <p:spPr>
          <a:xfrm>
            <a:off x="793661" y="2599509"/>
            <a:ext cx="4530898" cy="3639450"/>
          </a:xfrm>
        </p:spPr>
        <p:txBody>
          <a:bodyPr vert="horz" lIns="91440" tIns="45720" rIns="91440" bIns="45720" rtlCol="0" anchor="ctr">
            <a:normAutofit/>
          </a:bodyPr>
          <a:lstStyle/>
          <a:p>
            <a:endParaRPr lang="en-US" sz="2000">
              <a:highlight>
                <a:srgbClr val="FFFFFF"/>
              </a:highlight>
              <a:ea typeface="Calibri"/>
              <a:cs typeface="Calibri"/>
            </a:endParaRPr>
          </a:p>
          <a:p>
            <a:endParaRPr lang="en-US" sz="2000">
              <a:highlight>
                <a:srgbClr val="FFFFFF"/>
              </a:highlight>
              <a:latin typeface="Segoe UI"/>
              <a:ea typeface="Calibri"/>
              <a:cs typeface="Segoe UI"/>
            </a:endParaRPr>
          </a:p>
          <a:p>
            <a:r>
              <a:rPr lang="en-US" sz="2000">
                <a:ea typeface="Calibri"/>
                <a:cs typeface="Calibri"/>
              </a:rPr>
              <a:t>A while loop is a powerful tool in Python lets you repeatedly run a block of code as long as certain condition is true. </a:t>
            </a:r>
          </a:p>
          <a:p>
            <a:r>
              <a:rPr lang="en-US" sz="2000">
                <a:ea typeface="Calibri"/>
                <a:cs typeface="Calibri"/>
              </a:rPr>
              <a:t>A while loop has an expression followed by a colon and an indented block of code. </a:t>
            </a:r>
          </a:p>
          <a:p>
            <a:endParaRPr lang="en-US" sz="2000">
              <a:ea typeface="Calibri"/>
              <a:cs typeface="Calibri"/>
            </a:endParaRPr>
          </a:p>
        </p:txBody>
      </p:sp>
      <p:pic>
        <p:nvPicPr>
          <p:cNvPr id="4" name="Picture 3">
            <a:extLst>
              <a:ext uri="{FF2B5EF4-FFF2-40B4-BE49-F238E27FC236}">
                <a16:creationId xmlns:a16="http://schemas.microsoft.com/office/drawing/2014/main" id="{D07882B3-2562-A390-D167-64A67FC9B4A0}"/>
              </a:ext>
            </a:extLst>
          </p:cNvPr>
          <p:cNvPicPr>
            <a:picLocks noChangeAspect="1"/>
          </p:cNvPicPr>
          <p:nvPr/>
        </p:nvPicPr>
        <p:blipFill>
          <a:blip r:embed="rId2"/>
          <a:stretch>
            <a:fillRect/>
          </a:stretch>
        </p:blipFill>
        <p:spPr>
          <a:xfrm>
            <a:off x="5911532" y="3639651"/>
            <a:ext cx="5150277" cy="1403451"/>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9164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624EE-9B08-3BE5-6ED9-A2B801A8A42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Difference between For &amp; While Loop</a:t>
            </a:r>
          </a:p>
        </p:txBody>
      </p:sp>
      <p:pic>
        <p:nvPicPr>
          <p:cNvPr id="5" name="Content Placeholder 4">
            <a:extLst>
              <a:ext uri="{FF2B5EF4-FFF2-40B4-BE49-F238E27FC236}">
                <a16:creationId xmlns:a16="http://schemas.microsoft.com/office/drawing/2014/main" id="{F5B9D339-41C9-1DB9-9CFD-C592FDEFCE94}"/>
              </a:ext>
            </a:extLst>
          </p:cNvPr>
          <p:cNvPicPr>
            <a:picLocks noGrp="1" noChangeAspect="1"/>
          </p:cNvPicPr>
          <p:nvPr>
            <p:ph idx="1"/>
          </p:nvPr>
        </p:nvPicPr>
        <p:blipFill>
          <a:blip r:embed="rId2"/>
          <a:stretch>
            <a:fillRect/>
          </a:stretch>
        </p:blipFill>
        <p:spPr>
          <a:xfrm>
            <a:off x="643467" y="1704945"/>
            <a:ext cx="10905066" cy="4334763"/>
          </a:xfrm>
          <a:prstGeom prst="rect">
            <a:avLst/>
          </a:prstGeom>
        </p:spPr>
      </p:pic>
    </p:spTree>
    <p:extLst>
      <p:ext uri="{BB962C8B-B14F-4D97-AF65-F5344CB8AC3E}">
        <p14:creationId xmlns:p14="http://schemas.microsoft.com/office/powerpoint/2010/main" val="4226178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00BFF9-9356-7B63-EAEB-08797D73E4F8}"/>
              </a:ext>
            </a:extLst>
          </p:cNvPr>
          <p:cNvSpPr>
            <a:spLocks noGrp="1"/>
          </p:cNvSpPr>
          <p:nvPr>
            <p:ph type="title"/>
          </p:nvPr>
        </p:nvSpPr>
        <p:spPr>
          <a:xfrm>
            <a:off x="838200" y="365125"/>
            <a:ext cx="10515600" cy="1325563"/>
          </a:xfrm>
        </p:spPr>
        <p:txBody>
          <a:bodyPr>
            <a:normAutofit/>
          </a:bodyPr>
          <a:lstStyle/>
          <a:p>
            <a:r>
              <a:rPr lang="en-US" sz="5400" dirty="0">
                <a:ea typeface="Calibri Light"/>
                <a:cs typeface="Calibri Light"/>
              </a:rPr>
              <a:t>Conditional Statements in Python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211D5D-DC06-B468-7CC2-767D98DB8DC5}"/>
              </a:ext>
            </a:extLst>
          </p:cNvPr>
          <p:cNvSpPr>
            <a:spLocks noGrp="1"/>
          </p:cNvSpPr>
          <p:nvPr>
            <p:ph idx="1"/>
          </p:nvPr>
        </p:nvSpPr>
        <p:spPr>
          <a:xfrm>
            <a:off x="838200" y="1929384"/>
            <a:ext cx="10846279" cy="4251960"/>
          </a:xfrm>
        </p:spPr>
        <p:txBody>
          <a:bodyPr vert="horz" lIns="91440" tIns="45720" rIns="91440" bIns="45720" rtlCol="0" anchor="t">
            <a:noAutofit/>
          </a:bodyPr>
          <a:lstStyle/>
          <a:p>
            <a:r>
              <a:rPr lang="en-IN" sz="1600" dirty="0">
                <a:highlight>
                  <a:srgbClr val="FFFFFF"/>
                </a:highlight>
              </a:rPr>
              <a:t>Conditional statements in Python help control the flow of your program. They let you run specific blocks of code based on whether certain conditions are true or false.</a:t>
            </a:r>
            <a:endParaRPr lang="en-US" sz="1600" dirty="0">
              <a:solidFill>
                <a:srgbClr val="161616"/>
              </a:solidFill>
              <a:highlight>
                <a:srgbClr val="FFFFFF"/>
              </a:highlight>
              <a:ea typeface="Calibri"/>
              <a:cs typeface="Segoe UI"/>
            </a:endParaRPr>
          </a:p>
          <a:p>
            <a:r>
              <a:rPr lang="en-US" sz="1500" dirty="0">
                <a:ea typeface="Calibri"/>
                <a:cs typeface="Calibri"/>
              </a:rPr>
              <a:t>If statement: This runs a block of code if a condition is true. </a:t>
            </a:r>
          </a:p>
          <a:p>
            <a:r>
              <a:rPr lang="en-US" sz="1500" dirty="0">
                <a:ea typeface="Calibri"/>
                <a:cs typeface="Calibri"/>
              </a:rPr>
              <a:t>Elif statement: This checks multiple conditions one after another, if one condition is true , it runs the corresponding block of code. </a:t>
            </a:r>
          </a:p>
          <a:p>
            <a:r>
              <a:rPr lang="en-US" sz="1500" dirty="0">
                <a:ea typeface="Calibri"/>
                <a:cs typeface="Calibri"/>
              </a:rPr>
              <a:t>Else statement: this statement runs a block of code if none of the previous conditions are true. </a:t>
            </a:r>
          </a:p>
        </p:txBody>
      </p:sp>
    </p:spTree>
    <p:extLst>
      <p:ext uri="{BB962C8B-B14F-4D97-AF65-F5344CB8AC3E}">
        <p14:creationId xmlns:p14="http://schemas.microsoft.com/office/powerpoint/2010/main" val="1074499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726A876-49A6-30E7-5DE5-659142BF5ED7}"/>
              </a:ext>
            </a:extLst>
          </p:cNvPr>
          <p:cNvSpPr>
            <a:spLocks noGrp="1"/>
          </p:cNvSpPr>
          <p:nvPr>
            <p:ph type="title"/>
          </p:nvPr>
        </p:nvSpPr>
        <p:spPr>
          <a:xfrm>
            <a:off x="838200" y="365125"/>
            <a:ext cx="10515600" cy="1325563"/>
          </a:xfrm>
        </p:spPr>
        <p:txBody>
          <a:bodyPr>
            <a:normAutofit/>
          </a:bodyPr>
          <a:lstStyle/>
          <a:p>
            <a:r>
              <a:rPr lang="en-US" dirty="0"/>
              <a:t>Truthy &amp; </a:t>
            </a:r>
            <a:r>
              <a:rPr lang="en-US" dirty="0" err="1"/>
              <a:t>Falsy</a:t>
            </a:r>
            <a:r>
              <a:rPr lang="en-US" dirty="0"/>
              <a:t> Values in Python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404049-BD3E-70B7-4F92-A6A0382B0619}"/>
              </a:ext>
            </a:extLst>
          </p:cNvPr>
          <p:cNvSpPr>
            <a:spLocks noGrp="1"/>
          </p:cNvSpPr>
          <p:nvPr>
            <p:ph idx="1"/>
          </p:nvPr>
        </p:nvSpPr>
        <p:spPr>
          <a:xfrm>
            <a:off x="838200" y="1825625"/>
            <a:ext cx="10515600" cy="4351338"/>
          </a:xfrm>
        </p:spPr>
        <p:txBody>
          <a:bodyPr vert="horz" lIns="91440" tIns="45720" rIns="91440" bIns="45720" rtlCol="0" anchor="t">
            <a:normAutofit lnSpcReduction="10000"/>
          </a:bodyPr>
          <a:lstStyle/>
          <a:p>
            <a:r>
              <a:rPr lang="en-US" sz="1600" dirty="0">
                <a:solidFill>
                  <a:srgbClr val="0A0A0A"/>
                </a:solidFill>
                <a:highlight>
                  <a:srgbClr val="FFFFFF"/>
                </a:highlight>
                <a:ea typeface="+mn-lt"/>
                <a:cs typeface="+mn-lt"/>
              </a:rPr>
              <a:t>In Python, every value is either truthy or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Truthy values are considered True in conditions, while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values are considered False. </a:t>
            </a:r>
          </a:p>
          <a:p>
            <a:endParaRPr lang="en-US" sz="1600" dirty="0">
              <a:solidFill>
                <a:srgbClr val="0A0A0A"/>
              </a:solidFill>
              <a:highlight>
                <a:srgbClr val="FFFFFF"/>
              </a:highlight>
              <a:ea typeface="+mn-lt"/>
              <a:cs typeface="+mn-lt"/>
            </a:endParaRPr>
          </a:p>
          <a:p>
            <a:r>
              <a:rPr lang="en-US" sz="1600" b="1" dirty="0">
                <a:solidFill>
                  <a:srgbClr val="0A0A0A"/>
                </a:solidFill>
                <a:highlight>
                  <a:srgbClr val="FFFFFF"/>
                </a:highlight>
                <a:ea typeface="+mn-lt"/>
                <a:cs typeface="+mn-lt"/>
              </a:rPr>
              <a:t>Common truthy values</a:t>
            </a:r>
            <a:r>
              <a:rPr lang="en-US" sz="1600" dirty="0">
                <a:solidFill>
                  <a:srgbClr val="0A0A0A"/>
                </a:solidFill>
                <a:highlight>
                  <a:srgbClr val="FFFFFF"/>
                </a:highlight>
                <a:ea typeface="+mn-lt"/>
                <a:cs typeface="+mn-lt"/>
              </a:rPr>
              <a:t>: </a:t>
            </a:r>
          </a:p>
          <a:p>
            <a:r>
              <a:rPr lang="en-US" sz="1600" dirty="0">
                <a:solidFill>
                  <a:srgbClr val="0A0A0A"/>
                </a:solidFill>
                <a:highlight>
                  <a:srgbClr val="FFFFFF"/>
                </a:highlight>
                <a:ea typeface="+mn-lt"/>
                <a:cs typeface="+mn-lt"/>
              </a:rPr>
              <a:t>Non-zero numbers </a:t>
            </a:r>
          </a:p>
          <a:p>
            <a:r>
              <a:rPr lang="en-US" sz="1600" dirty="0">
                <a:solidFill>
                  <a:srgbClr val="0A0A0A"/>
                </a:solidFill>
                <a:highlight>
                  <a:srgbClr val="FFFFFF"/>
                </a:highlight>
                <a:ea typeface="+mn-lt"/>
                <a:cs typeface="+mn-lt"/>
              </a:rPr>
              <a:t>Non-empty strings</a:t>
            </a:r>
          </a:p>
          <a:p>
            <a:r>
              <a:rPr lang="en-US" sz="1600" dirty="0">
                <a:solidFill>
                  <a:srgbClr val="0A0A0A"/>
                </a:solidFill>
                <a:highlight>
                  <a:srgbClr val="FFFFFF"/>
                </a:highlight>
                <a:ea typeface="+mn-lt"/>
                <a:cs typeface="+mn-lt"/>
              </a:rPr>
              <a:t>Non-empty collections </a:t>
            </a:r>
          </a:p>
          <a:p>
            <a:endParaRPr lang="en-US" sz="1600" dirty="0">
              <a:solidFill>
                <a:srgbClr val="0A0A0A"/>
              </a:solidFill>
              <a:highlight>
                <a:srgbClr val="FFFFFF"/>
              </a:highlight>
              <a:ea typeface="+mn-lt"/>
              <a:cs typeface="+mn-lt"/>
            </a:endParaRPr>
          </a:p>
          <a:p>
            <a:r>
              <a:rPr lang="en-US" sz="1600" dirty="0">
                <a:solidFill>
                  <a:srgbClr val="0A0A0A"/>
                </a:solidFill>
                <a:highlight>
                  <a:srgbClr val="FFFFFF"/>
                </a:highlight>
                <a:ea typeface="+mn-lt"/>
                <a:cs typeface="+mn-lt"/>
              </a:rPr>
              <a:t>Common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values: </a:t>
            </a:r>
          </a:p>
          <a:p>
            <a:r>
              <a:rPr lang="en-US" sz="1600" dirty="0">
                <a:solidFill>
                  <a:srgbClr val="0A0A0A"/>
                </a:solidFill>
                <a:highlight>
                  <a:srgbClr val="FFFFFF"/>
                </a:highlight>
                <a:ea typeface="+mn-lt"/>
                <a:cs typeface="+mn-lt"/>
              </a:rPr>
              <a:t>0 (zero)</a:t>
            </a:r>
          </a:p>
          <a:p>
            <a:r>
              <a:rPr lang="en-US" sz="1600" dirty="0">
                <a:solidFill>
                  <a:srgbClr val="0A0A0A"/>
                </a:solidFill>
                <a:highlight>
                  <a:srgbClr val="FFFFFF"/>
                </a:highlight>
                <a:ea typeface="+mn-lt"/>
                <a:cs typeface="+mn-lt"/>
              </a:rPr>
              <a:t>0.0 (zero float)</a:t>
            </a:r>
          </a:p>
          <a:p>
            <a:r>
              <a:rPr lang="en-US" sz="1600" dirty="0">
                <a:solidFill>
                  <a:srgbClr val="0A0A0A"/>
                </a:solidFill>
                <a:highlight>
                  <a:srgbClr val="FFFFFF"/>
                </a:highlight>
                <a:ea typeface="+mn-lt"/>
                <a:cs typeface="+mn-lt"/>
              </a:rPr>
              <a:t>‘’ (empty string)</a:t>
            </a:r>
          </a:p>
          <a:p>
            <a:r>
              <a:rPr lang="en-US" sz="1600" dirty="0">
                <a:solidFill>
                  <a:srgbClr val="0A0A0A"/>
                </a:solidFill>
                <a:highlight>
                  <a:srgbClr val="FFFFFF"/>
                </a:highlight>
                <a:ea typeface="+mn-lt"/>
                <a:cs typeface="+mn-lt"/>
              </a:rPr>
              <a:t>None </a:t>
            </a:r>
          </a:p>
          <a:p>
            <a:r>
              <a:rPr lang="en-US" sz="1600" dirty="0">
                <a:solidFill>
                  <a:srgbClr val="0A0A0A"/>
                </a:solidFill>
                <a:highlight>
                  <a:srgbClr val="FFFFFF"/>
                </a:highlight>
                <a:ea typeface="+mn-lt"/>
                <a:cs typeface="+mn-lt"/>
              </a:rPr>
              <a:t>Empty collections (lists, dictionaries, sets)</a:t>
            </a:r>
          </a:p>
          <a:p>
            <a:endParaRPr lang="en-US" sz="1600" dirty="0">
              <a:solidFill>
                <a:srgbClr val="0A0A0A"/>
              </a:solidFill>
              <a:highlight>
                <a:srgbClr val="FFFFFF"/>
              </a:highlight>
              <a:ea typeface="+mn-lt"/>
              <a:cs typeface="+mn-lt"/>
            </a:endParaRPr>
          </a:p>
        </p:txBody>
      </p:sp>
    </p:spTree>
    <p:extLst>
      <p:ext uri="{BB962C8B-B14F-4D97-AF65-F5344CB8AC3E}">
        <p14:creationId xmlns:p14="http://schemas.microsoft.com/office/powerpoint/2010/main" val="2339224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DB5AB2-0325-BCA9-764E-8B187EF6B2F4}"/>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ea typeface="Calibri Light"/>
                <a:cs typeface="Calibri Light"/>
              </a:rPr>
              <a:t>Python Lists </a:t>
            </a:r>
          </a:p>
        </p:txBody>
      </p:sp>
      <p:sp>
        <p:nvSpPr>
          <p:cNvPr id="4" name="Rectangle 1">
            <a:extLst>
              <a:ext uri="{FF2B5EF4-FFF2-40B4-BE49-F238E27FC236}">
                <a16:creationId xmlns:a16="http://schemas.microsoft.com/office/drawing/2014/main" id="{267384AF-46FD-3722-7F34-DF0658A6FFD7}"/>
              </a:ext>
            </a:extLst>
          </p:cNvPr>
          <p:cNvSpPr>
            <a:spLocks noGrp="1" noChangeArrowheads="1"/>
          </p:cNvSpPr>
          <p:nvPr>
            <p:ph idx="1"/>
          </p:nvPr>
        </p:nvSpPr>
        <p:spPr bwMode="auto">
          <a:xfrm>
            <a:off x="4235966" y="3544098"/>
            <a:ext cx="7342889"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Maintains Order</a:t>
            </a:r>
            <a:r>
              <a:rPr kumimoji="0" lang="en-US" altLang="en-US" sz="100" b="0" i="0" u="none" strike="noStrike" cap="none" normalizeH="0" baseline="0" dirty="0">
                <a:ln>
                  <a:noFill/>
                </a:ln>
                <a:solidFill>
                  <a:srgbClr val="CED6DD"/>
                </a:solidFill>
                <a:effectLst/>
                <a:latin typeface="-apple-system"/>
              </a:rPr>
              <a:t>: The order in which you add items is the order in which you can access them.</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Holds Mixed Data Types</a:t>
            </a:r>
            <a:r>
              <a:rPr kumimoji="0" lang="en-US" altLang="en-US" sz="100" b="0" i="0" u="none" strike="noStrike" cap="none" normalizeH="0" baseline="0" dirty="0">
                <a:ln>
                  <a:noFill/>
                </a:ln>
                <a:solidFill>
                  <a:srgbClr val="CED6DD"/>
                </a:solidFill>
                <a:effectLst/>
                <a:latin typeface="-apple-system"/>
              </a:rPr>
              <a:t>: You can mix different types of data in a single list, like strings, numbers, and more.</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Is Mutable</a:t>
            </a:r>
            <a:r>
              <a:rPr kumimoji="0" lang="en-US" altLang="en-US" sz="100" b="0" i="0" u="none" strike="noStrike" cap="none" normalizeH="0" baseline="0" dirty="0">
                <a:ln>
                  <a:noFill/>
                </a:ln>
                <a:solidFill>
                  <a:srgbClr val="CED6DD"/>
                </a:solidFill>
                <a:effectLst/>
                <a:latin typeface="-apple-system"/>
              </a:rPr>
              <a:t>: You can change the items, size, and structure of a list after creating it.</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A list is a collection of Items </a:t>
            </a:r>
          </a:p>
          <a:p>
            <a:pPr marR="0" lvl="0" algn="l" defTabSz="914400" rtl="0" eaLnBrk="0" fontAlgn="base" latinLnBrk="0" hangingPunct="0">
              <a:lnSpc>
                <a:spcPct val="100000"/>
              </a:lnSpc>
              <a:spcBef>
                <a:spcPct val="0"/>
              </a:spcBef>
              <a:spcAft>
                <a:spcPct val="0"/>
              </a:spcAft>
              <a:buClrTx/>
              <a:buSzTx/>
              <a:buFontTx/>
              <a:buChar char="-"/>
              <a:tabLst/>
            </a:pPr>
            <a:r>
              <a:rPr lang="en-US" altLang="en-US" sz="1600" b="1" dirty="0"/>
              <a:t>Which maintains order </a:t>
            </a:r>
            <a:r>
              <a:rPr lang="en-US" altLang="en-US" sz="1600" dirty="0"/>
              <a:t>– the order in which you add items in the order you can access them</a:t>
            </a:r>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Holds Mixed Data types</a:t>
            </a:r>
            <a:r>
              <a:rPr kumimoji="0" lang="en-US" altLang="en-US" sz="1600" b="0" i="0" u="none" strike="noStrike" cap="none" normalizeH="0" baseline="0" dirty="0">
                <a:ln>
                  <a:noFill/>
                </a:ln>
                <a:solidFill>
                  <a:schemeClr val="tx1"/>
                </a:solidFill>
                <a:effectLst/>
              </a:rPr>
              <a:t> – You can mix different types of data in a single list like strings, numb</a:t>
            </a:r>
            <a:r>
              <a:rPr lang="en-US" altLang="en-US" sz="1600" dirty="0"/>
              <a:t>ers and more. </a:t>
            </a:r>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Is Mutable </a:t>
            </a:r>
            <a:r>
              <a:rPr kumimoji="0" lang="en-US" altLang="en-US" sz="1600" b="0" i="0" u="none" strike="noStrike" cap="none" normalizeH="0" baseline="0" dirty="0">
                <a:ln>
                  <a:noFill/>
                </a:ln>
                <a:solidFill>
                  <a:schemeClr val="tx1"/>
                </a:solidFill>
                <a:effectLst/>
              </a:rPr>
              <a:t>– you can c</a:t>
            </a:r>
            <a:r>
              <a:rPr lang="en-US" altLang="en-US" sz="1600" dirty="0"/>
              <a:t>hange the items, size and structure of the list after creating it. </a:t>
            </a: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291946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CBC16-5E79-1418-197A-470DD3E5B15E}"/>
              </a:ext>
            </a:extLst>
          </p:cNvPr>
          <p:cNvSpPr>
            <a:spLocks noGrp="1"/>
          </p:cNvSpPr>
          <p:nvPr>
            <p:ph type="title"/>
          </p:nvPr>
        </p:nvSpPr>
        <p:spPr/>
        <p:txBody>
          <a:bodyPr/>
          <a:lstStyle/>
          <a:p>
            <a:r>
              <a:rPr lang="en-US" dirty="0"/>
              <a:t>Tuples in Python</a:t>
            </a:r>
          </a:p>
        </p:txBody>
      </p:sp>
      <p:sp>
        <p:nvSpPr>
          <p:cNvPr id="3" name="Content Placeholder 2">
            <a:extLst>
              <a:ext uri="{FF2B5EF4-FFF2-40B4-BE49-F238E27FC236}">
                <a16:creationId xmlns:a16="http://schemas.microsoft.com/office/drawing/2014/main" id="{EB547054-5F3B-43FA-F090-76945D33D486}"/>
              </a:ext>
            </a:extLst>
          </p:cNvPr>
          <p:cNvSpPr>
            <a:spLocks noGrp="1"/>
          </p:cNvSpPr>
          <p:nvPr>
            <p:ph idx="1"/>
          </p:nvPr>
        </p:nvSpPr>
        <p:spPr/>
        <p:txBody>
          <a:bodyPr/>
          <a:lstStyle/>
          <a:p>
            <a:r>
              <a:rPr lang="en-IN" sz="1600" dirty="0"/>
              <a:t>A tuple is a collection of items that are ordered and can be of different types. You create a tuple using parentheses (), with items separated by commas</a:t>
            </a:r>
            <a:r>
              <a:rPr lang="en-IN" dirty="0"/>
              <a:t>.</a:t>
            </a:r>
          </a:p>
          <a:p>
            <a:endParaRPr lang="en-IN" dirty="0"/>
          </a:p>
          <a:p>
            <a:pPr marL="0" indent="0">
              <a:buNone/>
            </a:pPr>
            <a:r>
              <a:rPr lang="en-IN" sz="1800" dirty="0" err="1"/>
              <a:t>my_tuple</a:t>
            </a:r>
            <a:r>
              <a:rPr lang="en-IN" sz="1800" dirty="0"/>
              <a:t> = (1, "hello", 22, None, 2.7)</a:t>
            </a:r>
          </a:p>
          <a:p>
            <a:pPr marL="0" indent="0">
              <a:buNone/>
            </a:pPr>
            <a:endParaRPr lang="en-IN" dirty="0"/>
          </a:p>
          <a:p>
            <a:r>
              <a:rPr lang="en-IN" sz="1600" dirty="0"/>
              <a:t>Tuples can hold items of various types. In the example above, </a:t>
            </a:r>
            <a:r>
              <a:rPr lang="en-IN" sz="1600" dirty="0" err="1"/>
              <a:t>my_tuple</a:t>
            </a:r>
            <a:r>
              <a:rPr lang="en-IN" sz="1600" dirty="0"/>
              <a:t> includes integers, a string, None, and a floating-point number. This makes tuples very flexible</a:t>
            </a:r>
            <a:r>
              <a:rPr lang="en-IN" dirty="0"/>
              <a:t>.</a:t>
            </a:r>
            <a:endParaRPr lang="en-US" dirty="0"/>
          </a:p>
        </p:txBody>
      </p:sp>
    </p:spTree>
    <p:extLst>
      <p:ext uri="{BB962C8B-B14F-4D97-AF65-F5344CB8AC3E}">
        <p14:creationId xmlns:p14="http://schemas.microsoft.com/office/powerpoint/2010/main" val="1350696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0D3DA-2A50-0F45-5423-6BB7994E132F}"/>
              </a:ext>
            </a:extLst>
          </p:cNvPr>
          <p:cNvSpPr>
            <a:spLocks noGrp="1"/>
          </p:cNvSpPr>
          <p:nvPr>
            <p:ph type="title"/>
          </p:nvPr>
        </p:nvSpPr>
        <p:spPr/>
        <p:txBody>
          <a:bodyPr/>
          <a:lstStyle/>
          <a:p>
            <a:r>
              <a:rPr lang="en-US" dirty="0"/>
              <a:t>Sets in Python</a:t>
            </a:r>
          </a:p>
        </p:txBody>
      </p:sp>
      <p:sp>
        <p:nvSpPr>
          <p:cNvPr id="3" name="Content Placeholder 2">
            <a:extLst>
              <a:ext uri="{FF2B5EF4-FFF2-40B4-BE49-F238E27FC236}">
                <a16:creationId xmlns:a16="http://schemas.microsoft.com/office/drawing/2014/main" id="{DEBB48E5-036C-0657-C021-825FBF1B3453}"/>
              </a:ext>
            </a:extLst>
          </p:cNvPr>
          <p:cNvSpPr>
            <a:spLocks noGrp="1"/>
          </p:cNvSpPr>
          <p:nvPr>
            <p:ph idx="1"/>
          </p:nvPr>
        </p:nvSpPr>
        <p:spPr/>
        <p:txBody>
          <a:bodyPr/>
          <a:lstStyle/>
          <a:p>
            <a:r>
              <a:rPr lang="en-IN" sz="1600" dirty="0"/>
              <a:t>Sets are a handy and flexible data structure in Python that can handle collections of unique elements. Unlike lists or tuples, sets are unordered and mutable, meaning you can change their content after creating them. Sets also support operations like union, difference, and intersection, similar to mathematical sets</a:t>
            </a:r>
            <a:r>
              <a:rPr lang="en-IN" dirty="0"/>
              <a:t>.</a:t>
            </a:r>
          </a:p>
          <a:p>
            <a:endParaRPr lang="en-IN" dirty="0"/>
          </a:p>
          <a:p>
            <a:r>
              <a:rPr lang="en-IN" sz="1600" dirty="0"/>
              <a:t>To create a set, use curly braces {} and separate the elements with commas. For example, you can create a set of IP addresses like this:</a:t>
            </a:r>
          </a:p>
          <a:p>
            <a:endParaRPr lang="en-US" sz="1600" dirty="0"/>
          </a:p>
        </p:txBody>
      </p:sp>
      <p:pic>
        <p:nvPicPr>
          <p:cNvPr id="4" name="Picture 3">
            <a:extLst>
              <a:ext uri="{FF2B5EF4-FFF2-40B4-BE49-F238E27FC236}">
                <a16:creationId xmlns:a16="http://schemas.microsoft.com/office/drawing/2014/main" id="{0229115C-1599-25C9-A600-A0A0BFB5B8EA}"/>
              </a:ext>
            </a:extLst>
          </p:cNvPr>
          <p:cNvPicPr>
            <a:picLocks noChangeAspect="1"/>
          </p:cNvPicPr>
          <p:nvPr/>
        </p:nvPicPr>
        <p:blipFill>
          <a:blip r:embed="rId2"/>
          <a:stretch>
            <a:fillRect/>
          </a:stretch>
        </p:blipFill>
        <p:spPr>
          <a:xfrm>
            <a:off x="1476153" y="4251883"/>
            <a:ext cx="7772400" cy="778456"/>
          </a:xfrm>
          <a:prstGeom prst="rect">
            <a:avLst/>
          </a:prstGeom>
        </p:spPr>
      </p:pic>
    </p:spTree>
    <p:extLst>
      <p:ext uri="{BB962C8B-B14F-4D97-AF65-F5344CB8AC3E}">
        <p14:creationId xmlns:p14="http://schemas.microsoft.com/office/powerpoint/2010/main" val="455669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403DA-002E-EF1D-90F6-BA52BAF9F239}"/>
              </a:ext>
            </a:extLst>
          </p:cNvPr>
          <p:cNvSpPr>
            <a:spLocks noGrp="1"/>
          </p:cNvSpPr>
          <p:nvPr>
            <p:ph type="title"/>
          </p:nvPr>
        </p:nvSpPr>
        <p:spPr/>
        <p:txBody>
          <a:bodyPr/>
          <a:lstStyle/>
          <a:p>
            <a:r>
              <a:rPr lang="en-US" dirty="0"/>
              <a:t>Python Dictionaries for Network Engineers</a:t>
            </a:r>
          </a:p>
        </p:txBody>
      </p:sp>
      <p:sp>
        <p:nvSpPr>
          <p:cNvPr id="3" name="Content Placeholder 2">
            <a:extLst>
              <a:ext uri="{FF2B5EF4-FFF2-40B4-BE49-F238E27FC236}">
                <a16:creationId xmlns:a16="http://schemas.microsoft.com/office/drawing/2014/main" id="{561E506E-BB43-8E5F-7126-8D00B650B0FA}"/>
              </a:ext>
            </a:extLst>
          </p:cNvPr>
          <p:cNvSpPr>
            <a:spLocks noGrp="1"/>
          </p:cNvSpPr>
          <p:nvPr>
            <p:ph idx="1"/>
          </p:nvPr>
        </p:nvSpPr>
        <p:spPr/>
        <p:txBody>
          <a:bodyPr>
            <a:normAutofit/>
          </a:bodyPr>
          <a:lstStyle/>
          <a:p>
            <a:r>
              <a:rPr lang="en-IN" sz="1600" dirty="0"/>
              <a:t>Dictionaries in Python are like special containers that store data as key-value pairs. They keep the order of items and are very useful for many programming tasks. You can create dictionaries using curly braces {} and access values by their keys. From Python 3.7 onwards, dictionaries are ordered by default, making them even more powerful for writing organized code.</a:t>
            </a:r>
          </a:p>
          <a:p>
            <a:endParaRPr lang="en-IN" sz="1600" dirty="0"/>
          </a:p>
          <a:p>
            <a:r>
              <a:rPr lang="en-IN" sz="1600" dirty="0"/>
              <a:t>The easiest way to create a dictionary is by using curly braces. You define key-value pairs within these braces. Here’s an example:</a:t>
            </a:r>
          </a:p>
          <a:p>
            <a:endParaRPr lang="en-IN" sz="1600" dirty="0"/>
          </a:p>
          <a:p>
            <a:endParaRPr lang="en-US" sz="1600" dirty="0"/>
          </a:p>
        </p:txBody>
      </p:sp>
      <p:pic>
        <p:nvPicPr>
          <p:cNvPr id="4" name="Picture 3">
            <a:extLst>
              <a:ext uri="{FF2B5EF4-FFF2-40B4-BE49-F238E27FC236}">
                <a16:creationId xmlns:a16="http://schemas.microsoft.com/office/drawing/2014/main" id="{21B99AA4-FEED-ACF4-7D06-BCC91EF825FB}"/>
              </a:ext>
            </a:extLst>
          </p:cNvPr>
          <p:cNvPicPr>
            <a:picLocks noChangeAspect="1"/>
          </p:cNvPicPr>
          <p:nvPr/>
        </p:nvPicPr>
        <p:blipFill>
          <a:blip r:embed="rId2"/>
          <a:stretch>
            <a:fillRect/>
          </a:stretch>
        </p:blipFill>
        <p:spPr>
          <a:xfrm>
            <a:off x="1284768" y="4207360"/>
            <a:ext cx="7772400" cy="1526721"/>
          </a:xfrm>
          <a:prstGeom prst="rect">
            <a:avLst/>
          </a:prstGeom>
        </p:spPr>
      </p:pic>
    </p:spTree>
    <p:extLst>
      <p:ext uri="{BB962C8B-B14F-4D97-AF65-F5344CB8AC3E}">
        <p14:creationId xmlns:p14="http://schemas.microsoft.com/office/powerpoint/2010/main" val="1874741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338E9-6D18-7939-9D3E-0AF977AC0083}"/>
              </a:ext>
            </a:extLst>
          </p:cNvPr>
          <p:cNvSpPr>
            <a:spLocks noGrp="1"/>
          </p:cNvSpPr>
          <p:nvPr>
            <p:ph type="title"/>
          </p:nvPr>
        </p:nvSpPr>
        <p:spPr/>
        <p:txBody>
          <a:bodyPr/>
          <a:lstStyle/>
          <a:p>
            <a:r>
              <a:rPr lang="en-US" dirty="0"/>
              <a:t>Python Files</a:t>
            </a:r>
          </a:p>
        </p:txBody>
      </p:sp>
      <p:sp>
        <p:nvSpPr>
          <p:cNvPr id="3" name="Content Placeholder 2">
            <a:extLst>
              <a:ext uri="{FF2B5EF4-FFF2-40B4-BE49-F238E27FC236}">
                <a16:creationId xmlns:a16="http://schemas.microsoft.com/office/drawing/2014/main" id="{BB46637C-0FAA-59B3-15AC-DD230B713F8F}"/>
              </a:ext>
            </a:extLst>
          </p:cNvPr>
          <p:cNvSpPr>
            <a:spLocks noGrp="1"/>
          </p:cNvSpPr>
          <p:nvPr>
            <p:ph idx="1"/>
          </p:nvPr>
        </p:nvSpPr>
        <p:spPr/>
        <p:txBody>
          <a:bodyPr/>
          <a:lstStyle/>
          <a:p>
            <a:r>
              <a:rPr lang="en-US" dirty="0"/>
              <a:t>File Reading in Python </a:t>
            </a:r>
          </a:p>
          <a:p>
            <a:r>
              <a:rPr lang="en-US" sz="1600" dirty="0"/>
              <a:t>Open the file with open() function</a:t>
            </a:r>
          </a:p>
          <a:p>
            <a:r>
              <a:rPr lang="en-US" sz="1600" dirty="0"/>
              <a:t>Reading the file</a:t>
            </a:r>
          </a:p>
          <a:p>
            <a:r>
              <a:rPr lang="en-US" sz="1600" dirty="0"/>
              <a:t>Closing the file </a:t>
            </a:r>
          </a:p>
          <a:p>
            <a:endParaRPr lang="en-US" sz="1600" dirty="0"/>
          </a:p>
          <a:p>
            <a:r>
              <a:rPr lang="en-US" sz="2400" dirty="0"/>
              <a:t>File writing in Python </a:t>
            </a:r>
          </a:p>
          <a:p>
            <a:endParaRPr lang="en-US" sz="1600" dirty="0"/>
          </a:p>
          <a:p>
            <a:r>
              <a:rPr lang="en-US" sz="1600" dirty="0"/>
              <a:t>Opening the file</a:t>
            </a:r>
          </a:p>
          <a:p>
            <a:r>
              <a:rPr lang="en-US" sz="1600" dirty="0"/>
              <a:t>Writing the file</a:t>
            </a:r>
          </a:p>
          <a:p>
            <a:r>
              <a:rPr lang="en-US" sz="1600" dirty="0"/>
              <a:t>Closing the file</a:t>
            </a:r>
          </a:p>
        </p:txBody>
      </p:sp>
    </p:spTree>
    <p:extLst>
      <p:ext uri="{BB962C8B-B14F-4D97-AF65-F5344CB8AC3E}">
        <p14:creationId xmlns:p14="http://schemas.microsoft.com/office/powerpoint/2010/main" val="278570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4A2C4-A641-D660-5EAB-1A286532F1D4}"/>
              </a:ext>
            </a:extLst>
          </p:cNvPr>
          <p:cNvSpPr>
            <a:spLocks noGrp="1"/>
          </p:cNvSpPr>
          <p:nvPr>
            <p:ph type="title"/>
          </p:nvPr>
        </p:nvSpPr>
        <p:spPr/>
        <p:txBody>
          <a:bodyPr/>
          <a:lstStyle/>
          <a:p>
            <a:r>
              <a:rPr lang="en-US" dirty="0"/>
              <a:t>Python Exception Handling </a:t>
            </a:r>
          </a:p>
        </p:txBody>
      </p:sp>
      <p:sp>
        <p:nvSpPr>
          <p:cNvPr id="3" name="Content Placeholder 2">
            <a:extLst>
              <a:ext uri="{FF2B5EF4-FFF2-40B4-BE49-F238E27FC236}">
                <a16:creationId xmlns:a16="http://schemas.microsoft.com/office/drawing/2014/main" id="{2B61C3E3-276D-08AA-214F-97CF04512014}"/>
              </a:ext>
            </a:extLst>
          </p:cNvPr>
          <p:cNvSpPr>
            <a:spLocks noGrp="1"/>
          </p:cNvSpPr>
          <p:nvPr>
            <p:ph idx="1"/>
          </p:nvPr>
        </p:nvSpPr>
        <p:spPr/>
        <p:txBody>
          <a:bodyPr>
            <a:normAutofit/>
          </a:bodyPr>
          <a:lstStyle/>
          <a:p>
            <a:r>
              <a:rPr lang="en-US" sz="1600" dirty="0"/>
              <a:t>Exceptions are events when something goes wrong in the code. Such as syntax error, division by zero, missing file etc. </a:t>
            </a:r>
          </a:p>
          <a:p>
            <a:endParaRPr lang="en-US" sz="1600" dirty="0"/>
          </a:p>
          <a:p>
            <a:r>
              <a:rPr lang="en-US" sz="1600" dirty="0"/>
              <a:t>Exceptions are objects which represent the abnormal conditions that interrupts the normal flow of program. </a:t>
            </a:r>
          </a:p>
          <a:p>
            <a:endParaRPr lang="en-US" sz="1600" dirty="0"/>
          </a:p>
          <a:p>
            <a:r>
              <a:rPr lang="en-US" sz="1600" dirty="0"/>
              <a:t>Exceptions are handled through try() &amp; catch() block. </a:t>
            </a:r>
          </a:p>
        </p:txBody>
      </p:sp>
    </p:spTree>
    <p:extLst>
      <p:ext uri="{BB962C8B-B14F-4D97-AF65-F5344CB8AC3E}">
        <p14:creationId xmlns:p14="http://schemas.microsoft.com/office/powerpoint/2010/main" val="3659310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A93E8-0D09-1FB6-5F16-B928E759790E}"/>
              </a:ext>
            </a:extLst>
          </p:cNvPr>
          <p:cNvSpPr>
            <a:spLocks noGrp="1"/>
          </p:cNvSpPr>
          <p:nvPr>
            <p:ph type="title"/>
          </p:nvPr>
        </p:nvSpPr>
        <p:spPr/>
        <p:txBody>
          <a:bodyPr/>
          <a:lstStyle/>
          <a:p>
            <a:r>
              <a:rPr lang="en-US" dirty="0"/>
              <a:t>Python Classes </a:t>
            </a:r>
          </a:p>
        </p:txBody>
      </p:sp>
      <p:sp>
        <p:nvSpPr>
          <p:cNvPr id="3" name="Content Placeholder 2">
            <a:extLst>
              <a:ext uri="{FF2B5EF4-FFF2-40B4-BE49-F238E27FC236}">
                <a16:creationId xmlns:a16="http://schemas.microsoft.com/office/drawing/2014/main" id="{A435ACCD-156E-FEA8-98DA-9FA576872E21}"/>
              </a:ext>
            </a:extLst>
          </p:cNvPr>
          <p:cNvSpPr>
            <a:spLocks noGrp="1"/>
          </p:cNvSpPr>
          <p:nvPr>
            <p:ph idx="1"/>
          </p:nvPr>
        </p:nvSpPr>
        <p:spPr/>
        <p:txBody>
          <a:bodyPr>
            <a:normAutofit/>
          </a:bodyPr>
          <a:lstStyle/>
          <a:p>
            <a:r>
              <a:rPr lang="en-US" sz="1600" dirty="0"/>
              <a:t>In Python, everything is an object, everything we create in python associated with functions/methods or attributes. </a:t>
            </a:r>
          </a:p>
          <a:p>
            <a:endParaRPr lang="en-US" sz="1600" dirty="0"/>
          </a:p>
          <a:p>
            <a:r>
              <a:rPr lang="en-US" sz="1600" dirty="0"/>
              <a:t>A class serves as a blueprint for creating objects. </a:t>
            </a:r>
          </a:p>
          <a:p>
            <a:endParaRPr lang="en-US" sz="1600" dirty="0"/>
          </a:p>
          <a:p>
            <a:r>
              <a:rPr lang="en-US" sz="1600" dirty="0"/>
              <a:t>While a class is blueprint, an instance of object is built from the blueprint, containing data. </a:t>
            </a:r>
          </a:p>
          <a:p>
            <a:endParaRPr lang="en-US" sz="1600" dirty="0"/>
          </a:p>
          <a:p>
            <a:r>
              <a:rPr lang="en-US" sz="1600" dirty="0"/>
              <a:t>Instance methods are functions defined inside the class, callable only from an instance of that class. </a:t>
            </a:r>
          </a:p>
        </p:txBody>
      </p:sp>
    </p:spTree>
    <p:extLst>
      <p:ext uri="{BB962C8B-B14F-4D97-AF65-F5344CB8AC3E}">
        <p14:creationId xmlns:p14="http://schemas.microsoft.com/office/powerpoint/2010/main" val="3853283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CB6AC-3D41-2763-8100-24359023C9AA}"/>
              </a:ext>
            </a:extLst>
          </p:cNvPr>
          <p:cNvSpPr>
            <a:spLocks noGrp="1"/>
          </p:cNvSpPr>
          <p:nvPr>
            <p:ph type="title"/>
          </p:nvPr>
        </p:nvSpPr>
        <p:spPr/>
        <p:txBody>
          <a:bodyPr/>
          <a:lstStyle/>
          <a:p>
            <a:r>
              <a:rPr lang="en-US" dirty="0"/>
              <a:t>Python Functions for Network Automation</a:t>
            </a:r>
          </a:p>
        </p:txBody>
      </p:sp>
      <p:sp>
        <p:nvSpPr>
          <p:cNvPr id="3" name="Content Placeholder 2">
            <a:extLst>
              <a:ext uri="{FF2B5EF4-FFF2-40B4-BE49-F238E27FC236}">
                <a16:creationId xmlns:a16="http://schemas.microsoft.com/office/drawing/2014/main" id="{B60A9897-1C80-28F5-585B-80A4BED9D677}"/>
              </a:ext>
            </a:extLst>
          </p:cNvPr>
          <p:cNvSpPr>
            <a:spLocks noGrp="1"/>
          </p:cNvSpPr>
          <p:nvPr>
            <p:ph idx="1"/>
          </p:nvPr>
        </p:nvSpPr>
        <p:spPr/>
        <p:txBody>
          <a:bodyPr/>
          <a:lstStyle/>
          <a:p>
            <a:r>
              <a:rPr lang="en-US" sz="1600" dirty="0"/>
              <a:t>In Python, the concept of functions plays a crucial role, allowing developers to encapsulate and reuse code efficiently. Functions provide a way to create modular and maintainable code, as specific tasks can be performed by calling a function multiple times, eliminating the need for redundant code.</a:t>
            </a:r>
          </a:p>
          <a:p>
            <a:endParaRPr lang="en-US" sz="1600" dirty="0"/>
          </a:p>
          <a:p>
            <a:r>
              <a:rPr lang="en-US" sz="1600" dirty="0"/>
              <a:t>Python’s functions are blocks of organized code designed to be reusable for specific tasks. They allow the efficient reuse of code segments and the creation of customized functions is straightforward. The syntax for defining a function in Python involves using the def keyword.</a:t>
            </a:r>
          </a:p>
          <a:p>
            <a:endParaRPr lang="en-US" sz="1600" dirty="0"/>
          </a:p>
          <a:p>
            <a:r>
              <a:rPr lang="en-US" sz="1600" dirty="0"/>
              <a:t>There are two types of functions in Python:</a:t>
            </a:r>
          </a:p>
          <a:p>
            <a:r>
              <a:rPr lang="en-US" sz="1600" dirty="0"/>
              <a:t>Built-in Functions</a:t>
            </a:r>
          </a:p>
          <a:p>
            <a:r>
              <a:rPr lang="en-US" sz="1600" dirty="0"/>
              <a:t>User-defined Functions</a:t>
            </a:r>
          </a:p>
          <a:p>
            <a:endParaRPr lang="en-US" sz="1600" dirty="0"/>
          </a:p>
        </p:txBody>
      </p:sp>
    </p:spTree>
    <p:extLst>
      <p:ext uri="{BB962C8B-B14F-4D97-AF65-F5344CB8AC3E}">
        <p14:creationId xmlns:p14="http://schemas.microsoft.com/office/powerpoint/2010/main" val="45555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59030-320B-2096-9BEF-84E38374911D}"/>
              </a:ext>
            </a:extLst>
          </p:cNvPr>
          <p:cNvSpPr>
            <a:spLocks noGrp="1"/>
          </p:cNvSpPr>
          <p:nvPr>
            <p:ph type="title"/>
          </p:nvPr>
        </p:nvSpPr>
        <p:spPr/>
        <p:txBody>
          <a:bodyPr/>
          <a:lstStyle/>
          <a:p>
            <a:r>
              <a:rPr lang="en-US" dirty="0"/>
              <a:t>Python Functions Arguments</a:t>
            </a:r>
          </a:p>
        </p:txBody>
      </p:sp>
      <p:pic>
        <p:nvPicPr>
          <p:cNvPr id="5" name="Content Placeholder 4">
            <a:extLst>
              <a:ext uri="{FF2B5EF4-FFF2-40B4-BE49-F238E27FC236}">
                <a16:creationId xmlns:a16="http://schemas.microsoft.com/office/drawing/2014/main" id="{E7B79154-1B30-3D75-5F10-0CD97263AC56}"/>
              </a:ext>
            </a:extLst>
          </p:cNvPr>
          <p:cNvPicPr>
            <a:picLocks noGrp="1" noChangeAspect="1"/>
          </p:cNvPicPr>
          <p:nvPr>
            <p:ph idx="1"/>
          </p:nvPr>
        </p:nvPicPr>
        <p:blipFill>
          <a:blip r:embed="rId2"/>
          <a:stretch>
            <a:fillRect/>
          </a:stretch>
        </p:blipFill>
        <p:spPr>
          <a:xfrm>
            <a:off x="838200" y="2019300"/>
            <a:ext cx="6172200" cy="1409700"/>
          </a:xfrm>
          <a:prstGeom prst="rect">
            <a:avLst/>
          </a:prstGeom>
        </p:spPr>
      </p:pic>
      <p:sp>
        <p:nvSpPr>
          <p:cNvPr id="6" name="TextBox 5">
            <a:extLst>
              <a:ext uri="{FF2B5EF4-FFF2-40B4-BE49-F238E27FC236}">
                <a16:creationId xmlns:a16="http://schemas.microsoft.com/office/drawing/2014/main" id="{61DFC9C8-21DC-8067-1269-45C9097D86F9}"/>
              </a:ext>
            </a:extLst>
          </p:cNvPr>
          <p:cNvSpPr txBox="1"/>
          <p:nvPr/>
        </p:nvSpPr>
        <p:spPr>
          <a:xfrm>
            <a:off x="7329948" y="1526384"/>
            <a:ext cx="4023852" cy="4678204"/>
          </a:xfrm>
          <a:prstGeom prst="rect">
            <a:avLst/>
          </a:prstGeom>
          <a:noFill/>
        </p:spPr>
        <p:txBody>
          <a:bodyPr wrap="square" rtlCol="0">
            <a:spAutoFit/>
          </a:bodyPr>
          <a:lstStyle/>
          <a:p>
            <a:pPr marL="285750" indent="-285750">
              <a:buFont typeface="Arial" panose="020B0604020202020204" pitchFamily="34" charset="0"/>
              <a:buChar char="•"/>
            </a:pPr>
            <a:r>
              <a:rPr lang="en-US" sz="1600" dirty="0"/>
              <a:t>In functions, flexibility is key, and Python supports the concept of handling an arbitrary number of arguments and keyword arguments through </a:t>
            </a:r>
            <a:r>
              <a:rPr lang="en-US" sz="1600" b="1" dirty="0"/>
              <a:t>*</a:t>
            </a:r>
            <a:r>
              <a:rPr lang="en-US" sz="1600" b="1" dirty="0" err="1"/>
              <a:t>args</a:t>
            </a:r>
            <a:r>
              <a:rPr lang="en-US" sz="1600" b="1" dirty="0"/>
              <a:t> </a:t>
            </a:r>
            <a:r>
              <a:rPr lang="en-US" sz="1600" dirty="0"/>
              <a:t>and </a:t>
            </a:r>
            <a:r>
              <a:rPr lang="en-US" sz="1600" b="1" dirty="0"/>
              <a:t>**</a:t>
            </a:r>
            <a:r>
              <a:rPr lang="en-US" sz="1600" b="1" dirty="0" err="1"/>
              <a:t>kwargs</a:t>
            </a:r>
            <a:r>
              <a:rPr lang="en-US" sz="1600" b="1" dirty="0"/>
              <a: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With </a:t>
            </a:r>
            <a:r>
              <a:rPr lang="en-US" sz="1600" b="1" dirty="0"/>
              <a:t>*</a:t>
            </a:r>
            <a:r>
              <a:rPr lang="en-US" sz="1600" b="1" dirty="0" err="1"/>
              <a:t>args</a:t>
            </a:r>
            <a:r>
              <a:rPr lang="en-US" sz="1600" dirty="0"/>
              <a:t>, the function </a:t>
            </a:r>
            <a:r>
              <a:rPr lang="en-US" sz="1600" b="1" dirty="0" err="1"/>
              <a:t>network_status</a:t>
            </a:r>
            <a:r>
              <a:rPr lang="en-US" sz="1600" b="1" dirty="0"/>
              <a:t> </a:t>
            </a:r>
            <a:r>
              <a:rPr lang="en-US" sz="1600" dirty="0"/>
              <a:t>can accept an arbitrary number of devices, making it suitable for scenarios where the number of devices in the network is not fixed.</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dirty="0"/>
              <a:t>Using </a:t>
            </a:r>
            <a:r>
              <a:rPr lang="en-US" b="1" dirty="0"/>
              <a:t>**</a:t>
            </a:r>
            <a:r>
              <a:rPr lang="en-US" b="1" dirty="0" err="1"/>
              <a:t>kwargs</a:t>
            </a:r>
            <a:r>
              <a:rPr lang="en-US" dirty="0"/>
              <a:t>, the function </a:t>
            </a:r>
            <a:r>
              <a:rPr lang="en-US" b="1" dirty="0" err="1"/>
              <a:t>configure_device</a:t>
            </a:r>
            <a:r>
              <a:rPr lang="en-US" b="1" dirty="0"/>
              <a:t> </a:t>
            </a:r>
            <a:r>
              <a:rPr lang="en-US" dirty="0"/>
              <a:t>can handle an arbitrary number of keyword arguments, allowing for a more dynamic configuration approach.</a:t>
            </a:r>
            <a:endParaRPr lang="en-US" sz="1600" dirty="0"/>
          </a:p>
        </p:txBody>
      </p:sp>
      <p:pic>
        <p:nvPicPr>
          <p:cNvPr id="8" name="Picture 7">
            <a:extLst>
              <a:ext uri="{FF2B5EF4-FFF2-40B4-BE49-F238E27FC236}">
                <a16:creationId xmlns:a16="http://schemas.microsoft.com/office/drawing/2014/main" id="{CABB78CB-9AE6-E73A-1730-B30C92AEA014}"/>
              </a:ext>
            </a:extLst>
          </p:cNvPr>
          <p:cNvPicPr>
            <a:picLocks noChangeAspect="1"/>
          </p:cNvPicPr>
          <p:nvPr/>
        </p:nvPicPr>
        <p:blipFill>
          <a:blip r:embed="rId3"/>
          <a:stretch>
            <a:fillRect/>
          </a:stretch>
        </p:blipFill>
        <p:spPr>
          <a:xfrm>
            <a:off x="902110" y="4248917"/>
            <a:ext cx="6210300" cy="1457325"/>
          </a:xfrm>
          <a:prstGeom prst="rect">
            <a:avLst/>
          </a:prstGeom>
        </p:spPr>
      </p:pic>
    </p:spTree>
    <p:extLst>
      <p:ext uri="{BB962C8B-B14F-4D97-AF65-F5344CB8AC3E}">
        <p14:creationId xmlns:p14="http://schemas.microsoft.com/office/powerpoint/2010/main" val="3918784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Python Automation for Network engineering </a:t>
            </a:r>
          </a:p>
          <a:p>
            <a:pPr marL="0" indent="0">
              <a:buNone/>
            </a:pPr>
            <a:endParaRPr lang="en-US" dirty="0">
              <a:ea typeface="Calibri"/>
              <a:cs typeface="Calibri"/>
            </a:endParaRPr>
          </a:p>
          <a:p>
            <a:r>
              <a:rPr lang="en-US" dirty="0">
                <a:ea typeface="Calibri"/>
                <a:cs typeface="Calibri"/>
              </a:rPr>
              <a:t>Python Variables &amp; Data types</a:t>
            </a:r>
          </a:p>
          <a:p>
            <a:endParaRPr lang="en-US" dirty="0">
              <a:ea typeface="Calibri"/>
              <a:cs typeface="Calibri"/>
            </a:endParaRPr>
          </a:p>
          <a:p>
            <a:r>
              <a:rPr lang="en-US" dirty="0">
                <a:ea typeface="Calibri"/>
                <a:cs typeface="Calibri"/>
              </a:rPr>
              <a:t>Python Loops</a:t>
            </a:r>
          </a:p>
          <a:p>
            <a:pPr marL="0" indent="0">
              <a:buNone/>
            </a:pPr>
            <a:endParaRPr lang="en-US" dirty="0">
              <a:ea typeface="Calibri"/>
              <a:cs typeface="Calibri"/>
            </a:endParaRPr>
          </a:p>
          <a:p>
            <a:r>
              <a:rPr lang="en-US" dirty="0">
                <a:ea typeface="Calibri"/>
                <a:cs typeface="Calibri"/>
              </a:rPr>
              <a:t> Conditional Statements &amp; </a:t>
            </a:r>
            <a:r>
              <a:rPr lang="en-US">
                <a:ea typeface="Calibri"/>
                <a:cs typeface="Calibri"/>
              </a:rPr>
              <a:t>Python Collections</a:t>
            </a:r>
            <a:endParaRPr lang="en-US" dirty="0">
              <a:ea typeface="Calibri"/>
              <a:cs typeface="Calibri"/>
            </a:endParaRP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2438</TotalTime>
  <Words>1341</Words>
  <Application>Microsoft Office PowerPoint</Application>
  <PresentationFormat>Widescreen</PresentationFormat>
  <Paragraphs>134</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-apple-system</vt:lpstr>
      <vt:lpstr>Arial</vt:lpstr>
      <vt:lpstr>Calibri</vt:lpstr>
      <vt:lpstr>Calibri Light</vt:lpstr>
      <vt:lpstr>Segoe UI</vt:lpstr>
      <vt:lpstr>Wingdings</vt:lpstr>
      <vt:lpstr>Office 2013 - 2022 Theme</vt:lpstr>
      <vt:lpstr>Python Scripting with Network</vt:lpstr>
      <vt:lpstr>Agenda</vt:lpstr>
      <vt:lpstr>Python variables </vt:lpstr>
      <vt:lpstr>Python Operators</vt:lpstr>
      <vt:lpstr>Loops in Python</vt:lpstr>
      <vt:lpstr>Nesting Loops in Python</vt:lpstr>
      <vt:lpstr>While Loop in Python</vt:lpstr>
      <vt:lpstr>Difference between For &amp; While Loop</vt:lpstr>
      <vt:lpstr>Conditional Statements in Python</vt:lpstr>
      <vt:lpstr>Truthy &amp; Falsy Values in Python</vt:lpstr>
      <vt:lpstr>Python Lists </vt:lpstr>
      <vt:lpstr>Tuples in Python</vt:lpstr>
      <vt:lpstr>Sets in Python</vt:lpstr>
      <vt:lpstr>Python Dictionaries for Network Engineers</vt:lpstr>
      <vt:lpstr>Python Files</vt:lpstr>
      <vt:lpstr>Python Exception Handling </vt:lpstr>
      <vt:lpstr>Python Classes </vt:lpstr>
      <vt:lpstr>Python Functions for Network Automation</vt:lpstr>
      <vt:lpstr>Python Functions Arguments</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12</cp:revision>
  <dcterms:created xsi:type="dcterms:W3CDTF">2026-04-11T17:33:10Z</dcterms:created>
  <dcterms:modified xsi:type="dcterms:W3CDTF">2026-05-25T02:03:54Z</dcterms:modified>
</cp:coreProperties>
</file>