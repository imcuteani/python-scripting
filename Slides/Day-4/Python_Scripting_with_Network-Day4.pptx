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66" r:id="rId4"/>
    <p:sldId id="267" r:id="rId5"/>
    <p:sldId id="269" r:id="rId6"/>
    <p:sldId id="271" r:id="rId7"/>
    <p:sldId id="292" r:id="rId8"/>
    <p:sldId id="273" r:id="rId9"/>
    <p:sldId id="274" r:id="rId10"/>
    <p:sldId id="275" r:id="rId11"/>
    <p:sldId id="284" r:id="rId12"/>
    <p:sldId id="285" r:id="rId13"/>
    <p:sldId id="286" r:id="rId14"/>
    <p:sldId id="287" r:id="rId15"/>
    <p:sldId id="288" r:id="rId16"/>
    <p:sldId id="289" r:id="rId17"/>
    <p:sldId id="290" r:id="rId18"/>
    <p:sldId id="291" r:id="rId19"/>
    <p:sldId id="28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5/26/2026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4</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fontScale="92500" lnSpcReduction="10000"/>
          </a:bodyPr>
          <a:lstStyle/>
          <a:p>
            <a:r>
              <a:rPr lang="en-US" sz="2200" dirty="0">
                <a:ea typeface="Calibri" panose="020F0502020204030204"/>
                <a:cs typeface="Calibri" panose="020F0502020204030204"/>
              </a:rPr>
              <a:t>Python Lists</a:t>
            </a:r>
          </a:p>
          <a:p>
            <a:r>
              <a:rPr lang="en-US" sz="2200" dirty="0">
                <a:ea typeface="Calibri" panose="020F0502020204030204"/>
                <a:cs typeface="Calibri" panose="020F0502020204030204"/>
              </a:rPr>
              <a:t>Python Tuples </a:t>
            </a:r>
          </a:p>
          <a:p>
            <a:r>
              <a:rPr lang="en-US" sz="2200" dirty="0">
                <a:ea typeface="Calibri" panose="020F0502020204030204"/>
                <a:cs typeface="Calibri" panose="020F0502020204030204"/>
              </a:rPr>
              <a:t>Python Sets</a:t>
            </a:r>
          </a:p>
          <a:p>
            <a:r>
              <a:rPr lang="en-US" sz="2200" dirty="0">
                <a:ea typeface="Calibri" panose="020F0502020204030204"/>
                <a:cs typeface="Calibri" panose="020F0502020204030204"/>
              </a:rPr>
              <a:t>Python Dictonaries</a:t>
            </a:r>
          </a:p>
          <a:p>
            <a:r>
              <a:rPr lang="en-US" sz="2200" dirty="0">
                <a:ea typeface="Calibri" panose="020F0502020204030204"/>
                <a:cs typeface="Calibri" panose="020F0502020204030204"/>
              </a:rPr>
              <a:t>Conditional statements</a:t>
            </a:r>
          </a:p>
          <a:p>
            <a:r>
              <a:rPr lang="en-US" sz="2200" dirty="0">
                <a:ea typeface="Calibri" panose="020F0502020204030204"/>
                <a:cs typeface="Calibri" panose="020F0502020204030204"/>
              </a:rPr>
              <a:t>Python Files</a:t>
            </a:r>
          </a:p>
          <a:p>
            <a:r>
              <a:rPr lang="en-US" sz="2200" dirty="0">
                <a:ea typeface="Calibri" panose="020F0502020204030204"/>
                <a:cs typeface="Calibri" panose="020F0502020204030204"/>
              </a:rPr>
              <a:t>Python Exception Handling</a:t>
            </a:r>
          </a:p>
          <a:p>
            <a:r>
              <a:rPr lang="en-US" sz="2200" dirty="0">
                <a:ea typeface="Calibri" panose="020F0502020204030204"/>
                <a:cs typeface="Calibri" panose="020F0502020204030204"/>
              </a:rPr>
              <a:t>Python Classes</a:t>
            </a:r>
          </a:p>
          <a:p>
            <a:r>
              <a:rPr lang="en-US" sz="2200" dirty="0">
                <a:ea typeface="Calibri" panose="020F0502020204030204"/>
                <a:cs typeface="Calibri" panose="020F0502020204030204"/>
              </a:rPr>
              <a:t>Python Functions </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876693" y="741391"/>
            <a:ext cx="3455821" cy="1616203"/>
          </a:xfrm>
        </p:spPr>
        <p:txBody>
          <a:bodyPr anchor="b">
            <a:normAutofit/>
          </a:bodyPr>
          <a:lstStyle/>
          <a:p>
            <a:r>
              <a:rPr lang="en-US" sz="3200" dirty="0"/>
              <a:t>Python Lists</a:t>
            </a:r>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876693" y="2533476"/>
            <a:ext cx="9417681" cy="3447832"/>
          </a:xfrm>
        </p:spPr>
        <p:txBody>
          <a:bodyPr vert="horz" lIns="91440" tIns="45720" rIns="91440" bIns="45720" rtlCol="0" anchor="t">
            <a:normAutofit/>
          </a:bodyPr>
          <a:lstStyle/>
          <a:p>
            <a:r>
              <a:rPr lang="en-US" sz="2000" dirty="0"/>
              <a:t>A python  Lists is a basic &amp; flexible way to store a collection of items.</a:t>
            </a:r>
          </a:p>
          <a:p>
            <a:r>
              <a:rPr lang="en-US" sz="2000" dirty="0"/>
              <a:t>Python lists maintains order</a:t>
            </a:r>
          </a:p>
          <a:p>
            <a:r>
              <a:rPr lang="en-US" sz="2000" dirty="0"/>
              <a:t>Holds mixed data </a:t>
            </a:r>
          </a:p>
          <a:p>
            <a:r>
              <a:rPr lang="en-US" sz="2000" dirty="0"/>
              <a:t>Is mutable </a:t>
            </a:r>
          </a:p>
          <a:p>
            <a:r>
              <a:rPr lang="en-US" sz="2000" dirty="0"/>
              <a:t>Lists use zero based indexing. </a:t>
            </a:r>
            <a:br>
              <a:rPr lang="en-US" sz="2000" dirty="0"/>
            </a:b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p:txBody>
      </p:sp>
      <p:grpSp>
        <p:nvGrpSpPr>
          <p:cNvPr id="18" name="Group 17">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9" name="Rectangle 18">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0454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t>Python Tuples</a:t>
            </a:r>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400" dirty="0">
                <a:ea typeface="Calibri"/>
                <a:cs typeface="Calibri"/>
              </a:rPr>
              <a:t>A tuple is a way to store a collection of items in a specific order</a:t>
            </a:r>
          </a:p>
          <a:p>
            <a:endParaRPr lang="en-US" sz="1400" dirty="0">
              <a:ea typeface="Calibri"/>
              <a:cs typeface="Calibri"/>
            </a:endParaRPr>
          </a:p>
          <a:p>
            <a:r>
              <a:rPr lang="en-US" sz="1400" dirty="0">
                <a:ea typeface="Calibri"/>
                <a:cs typeface="Calibri"/>
              </a:rPr>
              <a:t>Tuples can hold collection of items which are ordered &amp; can be different types</a:t>
            </a:r>
          </a:p>
          <a:p>
            <a:r>
              <a:rPr lang="en-US" sz="1400" dirty="0">
                <a:ea typeface="Calibri"/>
                <a:cs typeface="Calibri"/>
              </a:rPr>
              <a:t>Tuples are immutable in nature</a:t>
            </a:r>
          </a:p>
          <a:p>
            <a:r>
              <a:rPr lang="en-US" sz="1400" dirty="0">
                <a:ea typeface="Calibri"/>
                <a:cs typeface="Calibri"/>
              </a:rPr>
              <a:t>Tuples are often used for pairs &amp; small sets of related data</a:t>
            </a:r>
          </a:p>
        </p:txBody>
      </p:sp>
    </p:spTree>
    <p:extLst>
      <p:ext uri="{BB962C8B-B14F-4D97-AF65-F5344CB8AC3E}">
        <p14:creationId xmlns:p14="http://schemas.microsoft.com/office/powerpoint/2010/main" val="2562354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Sets in Python</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3" y="1421985"/>
            <a:ext cx="9417895" cy="4794791"/>
          </a:xfrm>
        </p:spPr>
        <p:txBody>
          <a:bodyPr vert="horz" lIns="91440" tIns="45720" rIns="91440" bIns="45720" rtlCol="0" anchor="t">
            <a:noAutofit/>
          </a:bodyPr>
          <a:lstStyle/>
          <a:p>
            <a:endParaRPr lang="en-US" sz="1200" dirty="0">
              <a:solidFill>
                <a:srgbClr val="161616"/>
              </a:solidFill>
              <a:highlight>
                <a:srgbClr val="FFFFFF"/>
              </a:highlight>
              <a:latin typeface="Segoe UI"/>
              <a:ea typeface="Calibri"/>
              <a:cs typeface="Segoe UI"/>
            </a:endParaRPr>
          </a:p>
          <a:p>
            <a:endParaRPr lang="en-US" sz="800" dirty="0">
              <a:highlight>
                <a:srgbClr val="1F1F1F"/>
              </a:highlight>
              <a:latin typeface="Segoe UI"/>
              <a:ea typeface="Calibri"/>
              <a:cs typeface="Segoe UI"/>
            </a:endParaRPr>
          </a:p>
        </p:txBody>
      </p:sp>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A735C817-6BD6-DA6A-4712-0E757CE21454}"/>
              </a:ext>
            </a:extLst>
          </p:cNvPr>
          <p:cNvSpPr txBox="1"/>
          <p:nvPr/>
        </p:nvSpPr>
        <p:spPr>
          <a:xfrm>
            <a:off x="1050770" y="1563329"/>
            <a:ext cx="9273101" cy="2031325"/>
          </a:xfrm>
          <a:prstGeom prst="rect">
            <a:avLst/>
          </a:prstGeom>
          <a:noFill/>
        </p:spPr>
        <p:txBody>
          <a:bodyPr wrap="square" rtlCol="0">
            <a:spAutoFit/>
          </a:bodyPr>
          <a:lstStyle/>
          <a:p>
            <a:pPr marL="285750" indent="-285750">
              <a:buFont typeface="Arial" panose="020B0604020202020204" pitchFamily="34" charset="0"/>
              <a:buChar char="•"/>
            </a:pPr>
            <a:r>
              <a:rPr lang="en-US" dirty="0"/>
              <a:t>Sets are a type of data structure in python which can store collections of unique items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Sets can use the in operator to check if an element in set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Sets support ops like union, intersection, difference for comparing or combining of sets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Sets can manage IP address, VLAN Ids, network devices. </a:t>
            </a:r>
          </a:p>
        </p:txBody>
      </p:sp>
    </p:spTree>
    <p:extLst>
      <p:ext uri="{BB962C8B-B14F-4D97-AF65-F5344CB8AC3E}">
        <p14:creationId xmlns:p14="http://schemas.microsoft.com/office/powerpoint/2010/main" val="60641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793662" y="386930"/>
            <a:ext cx="10066122" cy="1298448"/>
          </a:xfrm>
        </p:spPr>
        <p:txBody>
          <a:bodyPr anchor="b">
            <a:normAutofit/>
          </a:bodyPr>
          <a:lstStyle/>
          <a:p>
            <a:r>
              <a:rPr lang="en-US" sz="4800" dirty="0"/>
              <a:t>Dictionaries in Python</a:t>
            </a:r>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dirty="0">
              <a:highlight>
                <a:srgbClr val="FFFFFF"/>
              </a:highlight>
              <a:ea typeface="Calibri"/>
              <a:cs typeface="Calibri"/>
            </a:endParaRPr>
          </a:p>
          <a:p>
            <a:endParaRPr lang="en-US" sz="2000" dirty="0">
              <a:highlight>
                <a:srgbClr val="FFFFFF"/>
              </a:highlight>
              <a:latin typeface="Segoe UI"/>
              <a:ea typeface="Calibri"/>
              <a:cs typeface="Segoe UI"/>
            </a:endParaRPr>
          </a:p>
          <a:p>
            <a:r>
              <a:rPr lang="en-US" sz="1700" dirty="0">
                <a:highlight>
                  <a:srgbClr val="FFFFFF"/>
                </a:highlight>
              </a:rPr>
              <a:t>Dictionaries in Python are like special containers that store data as key-value pairs. They keep the order of items and are very useful for many programming tasks. </a:t>
            </a:r>
          </a:p>
          <a:p>
            <a:r>
              <a:rPr lang="en-US" sz="1700" dirty="0">
                <a:highlight>
                  <a:srgbClr val="FFFFFF"/>
                </a:highlight>
              </a:rPr>
              <a:t>You can create dictionaries using curly braces {} and access values by their keys</a:t>
            </a:r>
            <a:endParaRPr lang="en-US" sz="1700" dirty="0">
              <a:ea typeface="Calibri"/>
              <a:cs typeface="Calibri"/>
            </a:endParaRPr>
          </a:p>
        </p:txBody>
      </p:sp>
      <p:pic>
        <p:nvPicPr>
          <p:cNvPr id="6" name="Picture 5">
            <a:extLst>
              <a:ext uri="{FF2B5EF4-FFF2-40B4-BE49-F238E27FC236}">
                <a16:creationId xmlns:a16="http://schemas.microsoft.com/office/drawing/2014/main" id="{A001ABF0-07C7-FC22-DC34-EFA191A4D612}"/>
              </a:ext>
            </a:extLst>
          </p:cNvPr>
          <p:cNvPicPr>
            <a:picLocks noChangeAspect="1"/>
          </p:cNvPicPr>
          <p:nvPr/>
        </p:nvPicPr>
        <p:blipFill>
          <a:blip r:embed="rId3"/>
          <a:stretch>
            <a:fillRect/>
          </a:stretch>
        </p:blipFill>
        <p:spPr>
          <a:xfrm>
            <a:off x="5324559" y="3943321"/>
            <a:ext cx="6693989" cy="951826"/>
          </a:xfrm>
          <a:prstGeom prst="rect">
            <a:avLst/>
          </a:prstGeom>
        </p:spPr>
      </p:pic>
    </p:spTree>
    <p:extLst>
      <p:ext uri="{BB962C8B-B14F-4D97-AF65-F5344CB8AC3E}">
        <p14:creationId xmlns:p14="http://schemas.microsoft.com/office/powerpoint/2010/main" val="104916466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Nested Dictionaries in Python</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1800" dirty="0"/>
              <a:t>Nested dictionaries in Python help you structure and organize data efficiently, making it easier to model complex relationships. </a:t>
            </a:r>
          </a:p>
          <a:p>
            <a:endParaRPr lang="en-US" sz="1800" dirty="0"/>
          </a:p>
          <a:p>
            <a:r>
              <a:rPr lang="en-US" sz="1800" dirty="0"/>
              <a:t>Python dictionaries are versatile and essential for organizing data. </a:t>
            </a:r>
          </a:p>
          <a:p>
            <a:endParaRPr lang="en-US" sz="1800" dirty="0"/>
          </a:p>
          <a:p>
            <a:r>
              <a:rPr lang="en-US" sz="1800" dirty="0"/>
              <a:t>Their dynamic features and support for nested structures make them powerful tools in Python programming and network engineering</a:t>
            </a:r>
          </a:p>
        </p:txBody>
      </p:sp>
      <p:pic>
        <p:nvPicPr>
          <p:cNvPr id="5" name="Picture 4">
            <a:extLst>
              <a:ext uri="{FF2B5EF4-FFF2-40B4-BE49-F238E27FC236}">
                <a16:creationId xmlns:a16="http://schemas.microsoft.com/office/drawing/2014/main" id="{DE719A45-E5CE-D0E1-A28E-1D6748FF6FA6}"/>
              </a:ext>
            </a:extLst>
          </p:cNvPr>
          <p:cNvPicPr>
            <a:picLocks noChangeAspect="1"/>
          </p:cNvPicPr>
          <p:nvPr/>
        </p:nvPicPr>
        <p:blipFill>
          <a:blip r:embed="rId2"/>
          <a:stretch>
            <a:fillRect/>
          </a:stretch>
        </p:blipFill>
        <p:spPr>
          <a:xfrm>
            <a:off x="7846141" y="4436038"/>
            <a:ext cx="3052916" cy="2056837"/>
          </a:xfrm>
          <a:prstGeom prst="rect">
            <a:avLst/>
          </a:prstGeom>
        </p:spPr>
      </p:pic>
    </p:spTree>
    <p:extLst>
      <p:ext uri="{BB962C8B-B14F-4D97-AF65-F5344CB8AC3E}">
        <p14:creationId xmlns:p14="http://schemas.microsoft.com/office/powerpoint/2010/main" val="2428767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dirty="0">
                <a:ea typeface="Calibri Light"/>
                <a:cs typeface="Calibri Light"/>
              </a:rPr>
              <a:t>Conditional Statements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IN" sz="1600" dirty="0">
                <a:highlight>
                  <a:srgbClr val="FFFFFF"/>
                </a:highlight>
              </a:rPr>
              <a:t>Conditional statements in Python help control the flow of your program. They let you run specific blocks of code based on whether certain conditions are true or false.</a:t>
            </a:r>
            <a:endParaRPr lang="en-US" sz="1600" dirty="0">
              <a:solidFill>
                <a:srgbClr val="161616"/>
              </a:solidFill>
              <a:highlight>
                <a:srgbClr val="FFFFFF"/>
              </a:highlight>
              <a:ea typeface="Calibri"/>
              <a:cs typeface="Segoe UI"/>
            </a:endParaRPr>
          </a:p>
          <a:p>
            <a:r>
              <a:rPr lang="en-US" sz="1500" dirty="0">
                <a:ea typeface="Calibri"/>
                <a:cs typeface="Calibri"/>
              </a:rPr>
              <a:t>If statement: This runs a block of code if a condition is true. </a:t>
            </a:r>
          </a:p>
          <a:p>
            <a:r>
              <a:rPr lang="en-US" sz="1500" dirty="0">
                <a:ea typeface="Calibri"/>
                <a:cs typeface="Calibri"/>
              </a:rPr>
              <a:t>Elif statement: This checks multiple conditions one after another, if one condition is true , it runs the corresponding block of code. </a:t>
            </a:r>
          </a:p>
          <a:p>
            <a:r>
              <a:rPr lang="en-US" sz="1500" dirty="0">
                <a:ea typeface="Calibri"/>
                <a:cs typeface="Calibri"/>
              </a:rPr>
              <a:t>Else statement: this statement runs a block of code if none of the previous conditions are true. </a:t>
            </a:r>
          </a:p>
        </p:txBody>
      </p:sp>
    </p:spTree>
    <p:extLst>
      <p:ext uri="{BB962C8B-B14F-4D97-AF65-F5344CB8AC3E}">
        <p14:creationId xmlns:p14="http://schemas.microsoft.com/office/powerpoint/2010/main" val="1074499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dirty="0"/>
              <a:t>Truthy &amp; </a:t>
            </a:r>
            <a:r>
              <a:rPr lang="en-US" dirty="0" err="1"/>
              <a:t>Falsy</a:t>
            </a:r>
            <a:r>
              <a:rPr lang="en-US" dirty="0"/>
              <a:t> Values in Python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lnSpcReduction="10000"/>
          </a:bodyPr>
          <a:lstStyle/>
          <a:p>
            <a:r>
              <a:rPr lang="en-US" sz="1600" dirty="0">
                <a:solidFill>
                  <a:srgbClr val="0A0A0A"/>
                </a:solidFill>
                <a:highlight>
                  <a:srgbClr val="FFFFFF"/>
                </a:highlight>
                <a:ea typeface="+mn-lt"/>
                <a:cs typeface="+mn-lt"/>
              </a:rPr>
              <a:t>In Python, every value is either truthy or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Truthy values are considered True in conditions, while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are considered False. </a:t>
            </a:r>
          </a:p>
          <a:p>
            <a:endParaRPr lang="en-US" sz="1600" dirty="0">
              <a:solidFill>
                <a:srgbClr val="0A0A0A"/>
              </a:solidFill>
              <a:highlight>
                <a:srgbClr val="FFFFFF"/>
              </a:highlight>
              <a:ea typeface="+mn-lt"/>
              <a:cs typeface="+mn-lt"/>
            </a:endParaRPr>
          </a:p>
          <a:p>
            <a:r>
              <a:rPr lang="en-US" sz="1600" b="1" dirty="0">
                <a:solidFill>
                  <a:srgbClr val="0A0A0A"/>
                </a:solidFill>
                <a:highlight>
                  <a:srgbClr val="FFFFFF"/>
                </a:highlight>
                <a:ea typeface="+mn-lt"/>
                <a:cs typeface="+mn-lt"/>
              </a:rPr>
              <a:t>Common truthy values</a:t>
            </a:r>
            <a:r>
              <a:rPr lang="en-US" sz="1600" dirty="0">
                <a:solidFill>
                  <a:srgbClr val="0A0A0A"/>
                </a:solidFill>
                <a:highlight>
                  <a:srgbClr val="FFFFFF"/>
                </a:highlight>
                <a:ea typeface="+mn-lt"/>
                <a:cs typeface="+mn-lt"/>
              </a:rPr>
              <a:t>: </a:t>
            </a:r>
          </a:p>
          <a:p>
            <a:r>
              <a:rPr lang="en-US" sz="1600" dirty="0">
                <a:solidFill>
                  <a:srgbClr val="0A0A0A"/>
                </a:solidFill>
                <a:highlight>
                  <a:srgbClr val="FFFFFF"/>
                </a:highlight>
                <a:ea typeface="+mn-lt"/>
                <a:cs typeface="+mn-lt"/>
              </a:rPr>
              <a:t>Non-zero numbers </a:t>
            </a:r>
          </a:p>
          <a:p>
            <a:r>
              <a:rPr lang="en-US" sz="1600" dirty="0">
                <a:solidFill>
                  <a:srgbClr val="0A0A0A"/>
                </a:solidFill>
                <a:highlight>
                  <a:srgbClr val="FFFFFF"/>
                </a:highlight>
                <a:ea typeface="+mn-lt"/>
                <a:cs typeface="+mn-lt"/>
              </a:rPr>
              <a:t>Non-empty strings</a:t>
            </a:r>
          </a:p>
          <a:p>
            <a:r>
              <a:rPr lang="en-US" sz="1600" dirty="0">
                <a:solidFill>
                  <a:srgbClr val="0A0A0A"/>
                </a:solidFill>
                <a:highlight>
                  <a:srgbClr val="FFFFFF"/>
                </a:highlight>
                <a:ea typeface="+mn-lt"/>
                <a:cs typeface="+mn-lt"/>
              </a:rPr>
              <a:t>Non-empty collections </a:t>
            </a:r>
          </a:p>
          <a:p>
            <a:endParaRPr lang="en-US" sz="1600" dirty="0">
              <a:solidFill>
                <a:srgbClr val="0A0A0A"/>
              </a:solidFill>
              <a:highlight>
                <a:srgbClr val="FFFFFF"/>
              </a:highlight>
              <a:ea typeface="+mn-lt"/>
              <a:cs typeface="+mn-lt"/>
            </a:endParaRPr>
          </a:p>
          <a:p>
            <a:r>
              <a:rPr lang="en-US" sz="1600" dirty="0">
                <a:solidFill>
                  <a:srgbClr val="0A0A0A"/>
                </a:solidFill>
                <a:highlight>
                  <a:srgbClr val="FFFFFF"/>
                </a:highlight>
                <a:ea typeface="+mn-lt"/>
                <a:cs typeface="+mn-lt"/>
              </a:rPr>
              <a:t>Common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t>
            </a:r>
          </a:p>
          <a:p>
            <a:r>
              <a:rPr lang="en-US" sz="1600" dirty="0">
                <a:solidFill>
                  <a:srgbClr val="0A0A0A"/>
                </a:solidFill>
                <a:highlight>
                  <a:srgbClr val="FFFFFF"/>
                </a:highlight>
                <a:ea typeface="+mn-lt"/>
                <a:cs typeface="+mn-lt"/>
              </a:rPr>
              <a:t>0 (zero)</a:t>
            </a:r>
          </a:p>
          <a:p>
            <a:r>
              <a:rPr lang="en-US" sz="1600" dirty="0">
                <a:solidFill>
                  <a:srgbClr val="0A0A0A"/>
                </a:solidFill>
                <a:highlight>
                  <a:srgbClr val="FFFFFF"/>
                </a:highlight>
                <a:ea typeface="+mn-lt"/>
                <a:cs typeface="+mn-lt"/>
              </a:rPr>
              <a:t>0.0 (zero float)</a:t>
            </a:r>
          </a:p>
          <a:p>
            <a:r>
              <a:rPr lang="en-US" sz="1600" dirty="0">
                <a:solidFill>
                  <a:srgbClr val="0A0A0A"/>
                </a:solidFill>
                <a:highlight>
                  <a:srgbClr val="FFFFFF"/>
                </a:highlight>
                <a:ea typeface="+mn-lt"/>
                <a:cs typeface="+mn-lt"/>
              </a:rPr>
              <a:t>‘’ (empty string)</a:t>
            </a:r>
          </a:p>
          <a:p>
            <a:r>
              <a:rPr lang="en-US" sz="1600" dirty="0">
                <a:solidFill>
                  <a:srgbClr val="0A0A0A"/>
                </a:solidFill>
                <a:highlight>
                  <a:srgbClr val="FFFFFF"/>
                </a:highlight>
                <a:ea typeface="+mn-lt"/>
                <a:cs typeface="+mn-lt"/>
              </a:rPr>
              <a:t>None </a:t>
            </a:r>
          </a:p>
          <a:p>
            <a:r>
              <a:rPr lang="en-US" sz="1600" dirty="0">
                <a:solidFill>
                  <a:srgbClr val="0A0A0A"/>
                </a:solidFill>
                <a:highlight>
                  <a:srgbClr val="FFFFFF"/>
                </a:highlight>
                <a:ea typeface="+mn-lt"/>
                <a:cs typeface="+mn-lt"/>
              </a:rPr>
              <a:t>Empty collections (lists, dictionaries, sets)</a:t>
            </a:r>
          </a:p>
          <a:p>
            <a:endParaRPr lang="en-US" sz="1600" dirty="0">
              <a:solidFill>
                <a:srgbClr val="0A0A0A"/>
              </a:solidFill>
              <a:highlight>
                <a:srgbClr val="FFFFFF"/>
              </a:highlight>
              <a:ea typeface="+mn-lt"/>
              <a:cs typeface="+mn-lt"/>
            </a:endParaRPr>
          </a:p>
        </p:txBody>
      </p:sp>
    </p:spTree>
    <p:extLst>
      <p:ext uri="{BB962C8B-B14F-4D97-AF65-F5344CB8AC3E}">
        <p14:creationId xmlns:p14="http://schemas.microsoft.com/office/powerpoint/2010/main" val="2339224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ea typeface="Calibri Light"/>
                <a:cs typeface="Calibri Light"/>
              </a:rPr>
              <a:t>Python Lists </a:t>
            </a:r>
          </a:p>
        </p:txBody>
      </p:sp>
      <p:sp>
        <p:nvSpPr>
          <p:cNvPr id="4" name="Rectangle 1">
            <a:extLst>
              <a:ext uri="{FF2B5EF4-FFF2-40B4-BE49-F238E27FC236}">
                <a16:creationId xmlns:a16="http://schemas.microsoft.com/office/drawing/2014/main" id="{267384AF-46FD-3722-7F34-DF0658A6FFD7}"/>
              </a:ext>
            </a:extLst>
          </p:cNvPr>
          <p:cNvSpPr>
            <a:spLocks noGrp="1" noChangeArrowheads="1"/>
          </p:cNvSpPr>
          <p:nvPr>
            <p:ph idx="1"/>
          </p:nvPr>
        </p:nvSpPr>
        <p:spPr bwMode="auto">
          <a:xfrm>
            <a:off x="4235966" y="3544098"/>
            <a:ext cx="734288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Maintains Order</a:t>
            </a:r>
            <a:r>
              <a:rPr kumimoji="0" lang="en-US" altLang="en-US" sz="100" b="0" i="0" u="none" strike="noStrike" cap="none" normalizeH="0" baseline="0" dirty="0">
                <a:ln>
                  <a:noFill/>
                </a:ln>
                <a:solidFill>
                  <a:srgbClr val="CED6DD"/>
                </a:solidFill>
                <a:effectLst/>
                <a:latin typeface="-apple-system"/>
              </a:rPr>
              <a:t>: The order in which you add items is the order in which you can access them.</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Holds Mixed Data Types</a:t>
            </a:r>
            <a:r>
              <a:rPr kumimoji="0" lang="en-US" altLang="en-US" sz="100" b="0" i="0" u="none" strike="noStrike" cap="none" normalizeH="0" baseline="0" dirty="0">
                <a:ln>
                  <a:noFill/>
                </a:ln>
                <a:solidFill>
                  <a:srgbClr val="CED6DD"/>
                </a:solidFill>
                <a:effectLst/>
                <a:latin typeface="-apple-system"/>
              </a:rPr>
              <a:t>: You can mix different types of data in a single list, like strings, numbers, and more.</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Is Mutable</a:t>
            </a:r>
            <a:r>
              <a:rPr kumimoji="0" lang="en-US" altLang="en-US" sz="100" b="0" i="0" u="none" strike="noStrike" cap="none" normalizeH="0" baseline="0" dirty="0">
                <a:ln>
                  <a:noFill/>
                </a:ln>
                <a:solidFill>
                  <a:srgbClr val="CED6DD"/>
                </a:solidFill>
                <a:effectLst/>
                <a:latin typeface="-apple-system"/>
              </a:rPr>
              <a:t>: You can change the items, size, and structure of a list after creating it.</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A list is a collection of Items </a:t>
            </a:r>
          </a:p>
          <a:p>
            <a:pPr marR="0" lvl="0" algn="l" defTabSz="914400" rtl="0" eaLnBrk="0" fontAlgn="base" latinLnBrk="0" hangingPunct="0">
              <a:lnSpc>
                <a:spcPct val="100000"/>
              </a:lnSpc>
              <a:spcBef>
                <a:spcPct val="0"/>
              </a:spcBef>
              <a:spcAft>
                <a:spcPct val="0"/>
              </a:spcAft>
              <a:buClrTx/>
              <a:buSzTx/>
              <a:buFontTx/>
              <a:buChar char="-"/>
              <a:tabLst/>
            </a:pPr>
            <a:r>
              <a:rPr lang="en-US" altLang="en-US" sz="1600" b="1" dirty="0"/>
              <a:t>Which maintains order </a:t>
            </a:r>
            <a:r>
              <a:rPr lang="en-US" altLang="en-US" sz="1600" dirty="0"/>
              <a:t>– the order in which you add items in the order you can access them</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Holds Mixed Data types</a:t>
            </a:r>
            <a:r>
              <a:rPr kumimoji="0" lang="en-US" altLang="en-US" sz="1600" b="0" i="0" u="none" strike="noStrike" cap="none" normalizeH="0" baseline="0" dirty="0">
                <a:ln>
                  <a:noFill/>
                </a:ln>
                <a:solidFill>
                  <a:schemeClr val="tx1"/>
                </a:solidFill>
                <a:effectLst/>
              </a:rPr>
              <a:t> – You can mix different types of data in a single list like strings, numb</a:t>
            </a:r>
            <a:r>
              <a:rPr lang="en-US" altLang="en-US" sz="1600" dirty="0"/>
              <a:t>ers and more. </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Is Mutable </a:t>
            </a:r>
            <a:r>
              <a:rPr kumimoji="0" lang="en-US" altLang="en-US" sz="1600" b="0" i="0" u="none" strike="noStrike" cap="none" normalizeH="0" baseline="0" dirty="0">
                <a:ln>
                  <a:noFill/>
                </a:ln>
                <a:solidFill>
                  <a:schemeClr val="tx1"/>
                </a:solidFill>
                <a:effectLst/>
              </a:rPr>
              <a:t>– you can c</a:t>
            </a:r>
            <a:r>
              <a:rPr lang="en-US" altLang="en-US" sz="1600" dirty="0"/>
              <a:t>hange the items, size and structure of the list after creating it. </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91946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BC16-5E79-1418-197A-470DD3E5B15E}"/>
              </a:ext>
            </a:extLst>
          </p:cNvPr>
          <p:cNvSpPr>
            <a:spLocks noGrp="1"/>
          </p:cNvSpPr>
          <p:nvPr>
            <p:ph type="title"/>
          </p:nvPr>
        </p:nvSpPr>
        <p:spPr/>
        <p:txBody>
          <a:bodyPr/>
          <a:lstStyle/>
          <a:p>
            <a:r>
              <a:rPr lang="en-US" dirty="0"/>
              <a:t>Tuples in Python</a:t>
            </a:r>
          </a:p>
        </p:txBody>
      </p:sp>
      <p:sp>
        <p:nvSpPr>
          <p:cNvPr id="3" name="Content Placeholder 2">
            <a:extLst>
              <a:ext uri="{FF2B5EF4-FFF2-40B4-BE49-F238E27FC236}">
                <a16:creationId xmlns:a16="http://schemas.microsoft.com/office/drawing/2014/main" id="{EB547054-5F3B-43FA-F090-76945D33D486}"/>
              </a:ext>
            </a:extLst>
          </p:cNvPr>
          <p:cNvSpPr>
            <a:spLocks noGrp="1"/>
          </p:cNvSpPr>
          <p:nvPr>
            <p:ph idx="1"/>
          </p:nvPr>
        </p:nvSpPr>
        <p:spPr/>
        <p:txBody>
          <a:bodyPr/>
          <a:lstStyle/>
          <a:p>
            <a:r>
              <a:rPr lang="en-IN" sz="1600" dirty="0"/>
              <a:t>A tuple is a collection of items that are ordered and can be of different types. You create a tuple using parentheses (), with items separated by commas</a:t>
            </a:r>
            <a:r>
              <a:rPr lang="en-IN" dirty="0"/>
              <a:t>.</a:t>
            </a:r>
          </a:p>
          <a:p>
            <a:endParaRPr lang="en-IN" dirty="0"/>
          </a:p>
          <a:p>
            <a:pPr marL="0" indent="0">
              <a:buNone/>
            </a:pPr>
            <a:r>
              <a:rPr lang="en-IN" sz="1800" dirty="0" err="1"/>
              <a:t>my_tuple</a:t>
            </a:r>
            <a:r>
              <a:rPr lang="en-IN" sz="1800" dirty="0"/>
              <a:t> = (1, "hello", 22, None, 2.7)</a:t>
            </a:r>
          </a:p>
          <a:p>
            <a:pPr marL="0" indent="0">
              <a:buNone/>
            </a:pPr>
            <a:endParaRPr lang="en-IN" dirty="0"/>
          </a:p>
          <a:p>
            <a:r>
              <a:rPr lang="en-IN" sz="1600" dirty="0"/>
              <a:t>Tuples can hold items of various types. In the example above, </a:t>
            </a:r>
            <a:r>
              <a:rPr lang="en-IN" sz="1600" dirty="0" err="1"/>
              <a:t>my_tuple</a:t>
            </a:r>
            <a:r>
              <a:rPr lang="en-IN" sz="1600" dirty="0"/>
              <a:t> includes integers, a string, None, and a floating-point number. This makes tuples very flexible</a:t>
            </a:r>
            <a:r>
              <a:rPr lang="en-IN" dirty="0"/>
              <a:t>.</a:t>
            </a:r>
            <a:endParaRPr lang="en-US" dirty="0"/>
          </a:p>
        </p:txBody>
      </p:sp>
    </p:spTree>
    <p:extLst>
      <p:ext uri="{BB962C8B-B14F-4D97-AF65-F5344CB8AC3E}">
        <p14:creationId xmlns:p14="http://schemas.microsoft.com/office/powerpoint/2010/main" val="135069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D3DA-2A50-0F45-5423-6BB7994E132F}"/>
              </a:ext>
            </a:extLst>
          </p:cNvPr>
          <p:cNvSpPr>
            <a:spLocks noGrp="1"/>
          </p:cNvSpPr>
          <p:nvPr>
            <p:ph type="title"/>
          </p:nvPr>
        </p:nvSpPr>
        <p:spPr/>
        <p:txBody>
          <a:bodyPr/>
          <a:lstStyle/>
          <a:p>
            <a:r>
              <a:rPr lang="en-US" dirty="0"/>
              <a:t>Sets in Python</a:t>
            </a:r>
          </a:p>
        </p:txBody>
      </p:sp>
      <p:sp>
        <p:nvSpPr>
          <p:cNvPr id="3" name="Content Placeholder 2">
            <a:extLst>
              <a:ext uri="{FF2B5EF4-FFF2-40B4-BE49-F238E27FC236}">
                <a16:creationId xmlns:a16="http://schemas.microsoft.com/office/drawing/2014/main" id="{DEBB48E5-036C-0657-C021-825FBF1B3453}"/>
              </a:ext>
            </a:extLst>
          </p:cNvPr>
          <p:cNvSpPr>
            <a:spLocks noGrp="1"/>
          </p:cNvSpPr>
          <p:nvPr>
            <p:ph idx="1"/>
          </p:nvPr>
        </p:nvSpPr>
        <p:spPr/>
        <p:txBody>
          <a:bodyPr/>
          <a:lstStyle/>
          <a:p>
            <a:r>
              <a:rPr lang="en-IN" sz="1600" dirty="0"/>
              <a:t>Sets are a handy and flexible data structure in Python that can handle collections of unique elements. Unlike lists or tuples, sets are unordered and mutable, meaning you can change their content after creating them. Sets also support operations like union, difference, and intersection, similar to mathematical sets</a:t>
            </a:r>
            <a:r>
              <a:rPr lang="en-IN" dirty="0"/>
              <a:t>.</a:t>
            </a:r>
          </a:p>
          <a:p>
            <a:endParaRPr lang="en-IN" dirty="0"/>
          </a:p>
          <a:p>
            <a:r>
              <a:rPr lang="en-IN" sz="1600" dirty="0"/>
              <a:t>To create a set, use curly braces {} and separate the elements with commas. For example, you can create a set of IP addresses like this:</a:t>
            </a:r>
          </a:p>
          <a:p>
            <a:endParaRPr lang="en-US" sz="1600" dirty="0"/>
          </a:p>
        </p:txBody>
      </p:sp>
      <p:pic>
        <p:nvPicPr>
          <p:cNvPr id="4" name="Picture 3">
            <a:extLst>
              <a:ext uri="{FF2B5EF4-FFF2-40B4-BE49-F238E27FC236}">
                <a16:creationId xmlns:a16="http://schemas.microsoft.com/office/drawing/2014/main" id="{0229115C-1599-25C9-A600-A0A0BFB5B8EA}"/>
              </a:ext>
            </a:extLst>
          </p:cNvPr>
          <p:cNvPicPr>
            <a:picLocks noChangeAspect="1"/>
          </p:cNvPicPr>
          <p:nvPr/>
        </p:nvPicPr>
        <p:blipFill>
          <a:blip r:embed="rId2"/>
          <a:stretch>
            <a:fillRect/>
          </a:stretch>
        </p:blipFill>
        <p:spPr>
          <a:xfrm>
            <a:off x="1476153" y="4251883"/>
            <a:ext cx="7772400" cy="778456"/>
          </a:xfrm>
          <a:prstGeom prst="rect">
            <a:avLst/>
          </a:prstGeom>
        </p:spPr>
      </p:pic>
    </p:spTree>
    <p:extLst>
      <p:ext uri="{BB962C8B-B14F-4D97-AF65-F5344CB8AC3E}">
        <p14:creationId xmlns:p14="http://schemas.microsoft.com/office/powerpoint/2010/main" val="455669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03DA-002E-EF1D-90F6-BA52BAF9F239}"/>
              </a:ext>
            </a:extLst>
          </p:cNvPr>
          <p:cNvSpPr>
            <a:spLocks noGrp="1"/>
          </p:cNvSpPr>
          <p:nvPr>
            <p:ph type="title"/>
          </p:nvPr>
        </p:nvSpPr>
        <p:spPr/>
        <p:txBody>
          <a:bodyPr/>
          <a:lstStyle/>
          <a:p>
            <a:r>
              <a:rPr lang="en-US" dirty="0"/>
              <a:t>Python Dictionaries for Network Engineers</a:t>
            </a:r>
          </a:p>
        </p:txBody>
      </p:sp>
      <p:sp>
        <p:nvSpPr>
          <p:cNvPr id="3" name="Content Placeholder 2">
            <a:extLst>
              <a:ext uri="{FF2B5EF4-FFF2-40B4-BE49-F238E27FC236}">
                <a16:creationId xmlns:a16="http://schemas.microsoft.com/office/drawing/2014/main" id="{561E506E-BB43-8E5F-7126-8D00B650B0FA}"/>
              </a:ext>
            </a:extLst>
          </p:cNvPr>
          <p:cNvSpPr>
            <a:spLocks noGrp="1"/>
          </p:cNvSpPr>
          <p:nvPr>
            <p:ph idx="1"/>
          </p:nvPr>
        </p:nvSpPr>
        <p:spPr/>
        <p:txBody>
          <a:bodyPr>
            <a:normAutofit/>
          </a:bodyPr>
          <a:lstStyle/>
          <a:p>
            <a:r>
              <a:rPr lang="en-IN" sz="1600" dirty="0"/>
              <a:t>Dictionaries in Python are like special containers that store data as key-value pairs. They keep the order of items and are very useful for many programming tasks. You can create dictionaries using curly braces {} and access values by their keys. From Python 3.7 onwards, dictionaries are ordered by default, making them even more powerful for writing organized code.</a:t>
            </a:r>
          </a:p>
          <a:p>
            <a:endParaRPr lang="en-IN" sz="1600" dirty="0"/>
          </a:p>
          <a:p>
            <a:r>
              <a:rPr lang="en-IN" sz="1600" dirty="0"/>
              <a:t>The easiest way to create a dictionary is by using curly braces. You define key-value pairs within these braces. Here’s an example:</a:t>
            </a:r>
          </a:p>
          <a:p>
            <a:endParaRPr lang="en-IN" sz="1600" dirty="0"/>
          </a:p>
          <a:p>
            <a:endParaRPr lang="en-US" sz="1600" dirty="0"/>
          </a:p>
        </p:txBody>
      </p:sp>
      <p:pic>
        <p:nvPicPr>
          <p:cNvPr id="4" name="Picture 3">
            <a:extLst>
              <a:ext uri="{FF2B5EF4-FFF2-40B4-BE49-F238E27FC236}">
                <a16:creationId xmlns:a16="http://schemas.microsoft.com/office/drawing/2014/main" id="{21B99AA4-FEED-ACF4-7D06-BCC91EF825FB}"/>
              </a:ext>
            </a:extLst>
          </p:cNvPr>
          <p:cNvPicPr>
            <a:picLocks noChangeAspect="1"/>
          </p:cNvPicPr>
          <p:nvPr/>
        </p:nvPicPr>
        <p:blipFill>
          <a:blip r:embed="rId2"/>
          <a:stretch>
            <a:fillRect/>
          </a:stretch>
        </p:blipFill>
        <p:spPr>
          <a:xfrm>
            <a:off x="1284768" y="4207360"/>
            <a:ext cx="7772400" cy="1526721"/>
          </a:xfrm>
          <a:prstGeom prst="rect">
            <a:avLst/>
          </a:prstGeom>
        </p:spPr>
      </p:pic>
    </p:spTree>
    <p:extLst>
      <p:ext uri="{BB962C8B-B14F-4D97-AF65-F5344CB8AC3E}">
        <p14:creationId xmlns:p14="http://schemas.microsoft.com/office/powerpoint/2010/main" val="1874741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338E9-6D18-7939-9D3E-0AF977AC0083}"/>
              </a:ext>
            </a:extLst>
          </p:cNvPr>
          <p:cNvSpPr>
            <a:spLocks noGrp="1"/>
          </p:cNvSpPr>
          <p:nvPr>
            <p:ph type="title"/>
          </p:nvPr>
        </p:nvSpPr>
        <p:spPr/>
        <p:txBody>
          <a:bodyPr/>
          <a:lstStyle/>
          <a:p>
            <a:r>
              <a:rPr lang="en-US" dirty="0"/>
              <a:t>Python Files</a:t>
            </a:r>
          </a:p>
        </p:txBody>
      </p:sp>
      <p:sp>
        <p:nvSpPr>
          <p:cNvPr id="3" name="Content Placeholder 2">
            <a:extLst>
              <a:ext uri="{FF2B5EF4-FFF2-40B4-BE49-F238E27FC236}">
                <a16:creationId xmlns:a16="http://schemas.microsoft.com/office/drawing/2014/main" id="{BB46637C-0FAA-59B3-15AC-DD230B713F8F}"/>
              </a:ext>
            </a:extLst>
          </p:cNvPr>
          <p:cNvSpPr>
            <a:spLocks noGrp="1"/>
          </p:cNvSpPr>
          <p:nvPr>
            <p:ph idx="1"/>
          </p:nvPr>
        </p:nvSpPr>
        <p:spPr/>
        <p:txBody>
          <a:bodyPr/>
          <a:lstStyle/>
          <a:p>
            <a:r>
              <a:rPr lang="en-US" dirty="0"/>
              <a:t>File Reading in Python </a:t>
            </a:r>
          </a:p>
          <a:p>
            <a:r>
              <a:rPr lang="en-US" sz="1600" dirty="0"/>
              <a:t>Open the file with open() function</a:t>
            </a:r>
          </a:p>
          <a:p>
            <a:r>
              <a:rPr lang="en-US" sz="1600" dirty="0"/>
              <a:t>Reading the file</a:t>
            </a:r>
          </a:p>
          <a:p>
            <a:r>
              <a:rPr lang="en-US" sz="1600" dirty="0"/>
              <a:t>Closing the file </a:t>
            </a:r>
          </a:p>
          <a:p>
            <a:endParaRPr lang="en-US" sz="1600" dirty="0"/>
          </a:p>
          <a:p>
            <a:r>
              <a:rPr lang="en-US" sz="2400" dirty="0"/>
              <a:t>File writing in Python </a:t>
            </a:r>
          </a:p>
          <a:p>
            <a:endParaRPr lang="en-US" sz="1600" dirty="0"/>
          </a:p>
          <a:p>
            <a:r>
              <a:rPr lang="en-US" sz="1600" dirty="0"/>
              <a:t>Opening the file</a:t>
            </a:r>
          </a:p>
          <a:p>
            <a:r>
              <a:rPr lang="en-US" sz="1600" dirty="0"/>
              <a:t>Writing the file</a:t>
            </a:r>
          </a:p>
          <a:p>
            <a:r>
              <a:rPr lang="en-US" sz="1600" dirty="0"/>
              <a:t>Closing the file</a:t>
            </a:r>
          </a:p>
        </p:txBody>
      </p:sp>
    </p:spTree>
    <p:extLst>
      <p:ext uri="{BB962C8B-B14F-4D97-AF65-F5344CB8AC3E}">
        <p14:creationId xmlns:p14="http://schemas.microsoft.com/office/powerpoint/2010/main" val="278570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A2C4-A641-D660-5EAB-1A286532F1D4}"/>
              </a:ext>
            </a:extLst>
          </p:cNvPr>
          <p:cNvSpPr>
            <a:spLocks noGrp="1"/>
          </p:cNvSpPr>
          <p:nvPr>
            <p:ph type="title"/>
          </p:nvPr>
        </p:nvSpPr>
        <p:spPr/>
        <p:txBody>
          <a:bodyPr/>
          <a:lstStyle/>
          <a:p>
            <a:r>
              <a:rPr lang="en-US" dirty="0"/>
              <a:t>Python Exception Handling </a:t>
            </a:r>
          </a:p>
        </p:txBody>
      </p:sp>
      <p:sp>
        <p:nvSpPr>
          <p:cNvPr id="3" name="Content Placeholder 2">
            <a:extLst>
              <a:ext uri="{FF2B5EF4-FFF2-40B4-BE49-F238E27FC236}">
                <a16:creationId xmlns:a16="http://schemas.microsoft.com/office/drawing/2014/main" id="{2B61C3E3-276D-08AA-214F-97CF04512014}"/>
              </a:ext>
            </a:extLst>
          </p:cNvPr>
          <p:cNvSpPr>
            <a:spLocks noGrp="1"/>
          </p:cNvSpPr>
          <p:nvPr>
            <p:ph idx="1"/>
          </p:nvPr>
        </p:nvSpPr>
        <p:spPr/>
        <p:txBody>
          <a:bodyPr>
            <a:normAutofit/>
          </a:bodyPr>
          <a:lstStyle/>
          <a:p>
            <a:r>
              <a:rPr lang="en-US" sz="1600" dirty="0"/>
              <a:t>Exceptions are events when something goes wrong in the code. Such as syntax error, division by zero, missing file etc. </a:t>
            </a:r>
          </a:p>
          <a:p>
            <a:endParaRPr lang="en-US" sz="1600" dirty="0"/>
          </a:p>
          <a:p>
            <a:r>
              <a:rPr lang="en-US" sz="1600" dirty="0"/>
              <a:t>Exceptions are objects which represent the abnormal conditions that interrupts the normal flow of program. </a:t>
            </a:r>
          </a:p>
          <a:p>
            <a:endParaRPr lang="en-US" sz="1600" dirty="0"/>
          </a:p>
          <a:p>
            <a:r>
              <a:rPr lang="en-US" sz="1600" dirty="0"/>
              <a:t>Exceptions are handled through try() &amp; catch() block. </a:t>
            </a:r>
          </a:p>
        </p:txBody>
      </p:sp>
    </p:spTree>
    <p:extLst>
      <p:ext uri="{BB962C8B-B14F-4D97-AF65-F5344CB8AC3E}">
        <p14:creationId xmlns:p14="http://schemas.microsoft.com/office/powerpoint/2010/main" val="3659310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A93E8-0D09-1FB6-5F16-B928E759790E}"/>
              </a:ext>
            </a:extLst>
          </p:cNvPr>
          <p:cNvSpPr>
            <a:spLocks noGrp="1"/>
          </p:cNvSpPr>
          <p:nvPr>
            <p:ph type="title"/>
          </p:nvPr>
        </p:nvSpPr>
        <p:spPr/>
        <p:txBody>
          <a:bodyPr/>
          <a:lstStyle/>
          <a:p>
            <a:r>
              <a:rPr lang="en-US" dirty="0"/>
              <a:t>Python Classes </a:t>
            </a:r>
          </a:p>
        </p:txBody>
      </p:sp>
      <p:sp>
        <p:nvSpPr>
          <p:cNvPr id="3" name="Content Placeholder 2">
            <a:extLst>
              <a:ext uri="{FF2B5EF4-FFF2-40B4-BE49-F238E27FC236}">
                <a16:creationId xmlns:a16="http://schemas.microsoft.com/office/drawing/2014/main" id="{A435ACCD-156E-FEA8-98DA-9FA576872E21}"/>
              </a:ext>
            </a:extLst>
          </p:cNvPr>
          <p:cNvSpPr>
            <a:spLocks noGrp="1"/>
          </p:cNvSpPr>
          <p:nvPr>
            <p:ph idx="1"/>
          </p:nvPr>
        </p:nvSpPr>
        <p:spPr/>
        <p:txBody>
          <a:bodyPr>
            <a:normAutofit/>
          </a:bodyPr>
          <a:lstStyle/>
          <a:p>
            <a:r>
              <a:rPr lang="en-US" sz="1600" dirty="0"/>
              <a:t>In Python, everything is an object, everything we create in python associated with functions/methods or attributes. </a:t>
            </a:r>
          </a:p>
          <a:p>
            <a:endParaRPr lang="en-US" sz="1600" dirty="0"/>
          </a:p>
          <a:p>
            <a:r>
              <a:rPr lang="en-US" sz="1600" dirty="0"/>
              <a:t>A class serves as a blueprint for creating objects. </a:t>
            </a:r>
          </a:p>
          <a:p>
            <a:endParaRPr lang="en-US" sz="1600" dirty="0"/>
          </a:p>
          <a:p>
            <a:r>
              <a:rPr lang="en-US" sz="1600" dirty="0"/>
              <a:t>While a class is blueprint, an instance of object is built from the blueprint, containing data. </a:t>
            </a:r>
          </a:p>
          <a:p>
            <a:endParaRPr lang="en-US" sz="1600" dirty="0"/>
          </a:p>
          <a:p>
            <a:r>
              <a:rPr lang="en-US" sz="1600" dirty="0"/>
              <a:t>Instance methods are functions defined inside the class, callable only from an instance of that class. </a:t>
            </a:r>
          </a:p>
        </p:txBody>
      </p:sp>
    </p:spTree>
    <p:extLst>
      <p:ext uri="{BB962C8B-B14F-4D97-AF65-F5344CB8AC3E}">
        <p14:creationId xmlns:p14="http://schemas.microsoft.com/office/powerpoint/2010/main" val="385328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B6AC-3D41-2763-8100-24359023C9AA}"/>
              </a:ext>
            </a:extLst>
          </p:cNvPr>
          <p:cNvSpPr>
            <a:spLocks noGrp="1"/>
          </p:cNvSpPr>
          <p:nvPr>
            <p:ph type="title"/>
          </p:nvPr>
        </p:nvSpPr>
        <p:spPr/>
        <p:txBody>
          <a:bodyPr/>
          <a:lstStyle/>
          <a:p>
            <a:r>
              <a:rPr lang="en-US" dirty="0"/>
              <a:t>Python Functions for Network Automation</a:t>
            </a:r>
          </a:p>
        </p:txBody>
      </p:sp>
      <p:sp>
        <p:nvSpPr>
          <p:cNvPr id="3" name="Content Placeholder 2">
            <a:extLst>
              <a:ext uri="{FF2B5EF4-FFF2-40B4-BE49-F238E27FC236}">
                <a16:creationId xmlns:a16="http://schemas.microsoft.com/office/drawing/2014/main" id="{B60A9897-1C80-28F5-585B-80A4BED9D677}"/>
              </a:ext>
            </a:extLst>
          </p:cNvPr>
          <p:cNvSpPr>
            <a:spLocks noGrp="1"/>
          </p:cNvSpPr>
          <p:nvPr>
            <p:ph idx="1"/>
          </p:nvPr>
        </p:nvSpPr>
        <p:spPr/>
        <p:txBody>
          <a:bodyPr/>
          <a:lstStyle/>
          <a:p>
            <a:r>
              <a:rPr lang="en-US" sz="1600" dirty="0"/>
              <a:t>In Python, the concept of functions plays a crucial role, allowing developers to encapsulate and reuse code efficiently. Functions provide a way to create modular and maintainable code, as specific tasks can be performed by calling a function multiple times, eliminating the need for redundant code.</a:t>
            </a:r>
          </a:p>
          <a:p>
            <a:endParaRPr lang="en-US" sz="1600" dirty="0"/>
          </a:p>
          <a:p>
            <a:r>
              <a:rPr lang="en-US" sz="1600" dirty="0"/>
              <a:t>Python’s functions are blocks of organized code designed to be reusable for specific tasks. They allow the efficient reuse of code segments and the creation of customized functions is straightforward. The syntax for defining a function in Python involves using the def keyword.</a:t>
            </a:r>
          </a:p>
          <a:p>
            <a:endParaRPr lang="en-US" sz="1600" dirty="0"/>
          </a:p>
          <a:p>
            <a:r>
              <a:rPr lang="en-US" sz="1600" dirty="0"/>
              <a:t>There are two types of functions in Python:</a:t>
            </a:r>
          </a:p>
          <a:p>
            <a:r>
              <a:rPr lang="en-US" sz="1600" dirty="0"/>
              <a:t>Built-in Functions</a:t>
            </a:r>
          </a:p>
          <a:p>
            <a:r>
              <a:rPr lang="en-US" sz="1600" dirty="0"/>
              <a:t>User-defined Functions</a:t>
            </a:r>
          </a:p>
          <a:p>
            <a:endParaRPr lang="en-US" sz="1600" dirty="0"/>
          </a:p>
        </p:txBody>
      </p:sp>
    </p:spTree>
    <p:extLst>
      <p:ext uri="{BB962C8B-B14F-4D97-AF65-F5344CB8AC3E}">
        <p14:creationId xmlns:p14="http://schemas.microsoft.com/office/powerpoint/2010/main" val="45555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59030-320B-2096-9BEF-84E38374911D}"/>
              </a:ext>
            </a:extLst>
          </p:cNvPr>
          <p:cNvSpPr>
            <a:spLocks noGrp="1"/>
          </p:cNvSpPr>
          <p:nvPr>
            <p:ph type="title"/>
          </p:nvPr>
        </p:nvSpPr>
        <p:spPr/>
        <p:txBody>
          <a:bodyPr/>
          <a:lstStyle/>
          <a:p>
            <a:r>
              <a:rPr lang="en-US" dirty="0"/>
              <a:t>Python Functions Arguments</a:t>
            </a:r>
          </a:p>
        </p:txBody>
      </p:sp>
      <p:pic>
        <p:nvPicPr>
          <p:cNvPr id="5" name="Content Placeholder 4">
            <a:extLst>
              <a:ext uri="{FF2B5EF4-FFF2-40B4-BE49-F238E27FC236}">
                <a16:creationId xmlns:a16="http://schemas.microsoft.com/office/drawing/2014/main" id="{E7B79154-1B30-3D75-5F10-0CD97263AC56}"/>
              </a:ext>
            </a:extLst>
          </p:cNvPr>
          <p:cNvPicPr>
            <a:picLocks noGrp="1" noChangeAspect="1"/>
          </p:cNvPicPr>
          <p:nvPr>
            <p:ph idx="1"/>
          </p:nvPr>
        </p:nvPicPr>
        <p:blipFill>
          <a:blip r:embed="rId2"/>
          <a:stretch>
            <a:fillRect/>
          </a:stretch>
        </p:blipFill>
        <p:spPr>
          <a:xfrm>
            <a:off x="838200" y="2019300"/>
            <a:ext cx="6172200" cy="1409700"/>
          </a:xfrm>
          <a:prstGeom prst="rect">
            <a:avLst/>
          </a:prstGeom>
        </p:spPr>
      </p:pic>
      <p:sp>
        <p:nvSpPr>
          <p:cNvPr id="6" name="TextBox 5">
            <a:extLst>
              <a:ext uri="{FF2B5EF4-FFF2-40B4-BE49-F238E27FC236}">
                <a16:creationId xmlns:a16="http://schemas.microsoft.com/office/drawing/2014/main" id="{61DFC9C8-21DC-8067-1269-45C9097D86F9}"/>
              </a:ext>
            </a:extLst>
          </p:cNvPr>
          <p:cNvSpPr txBox="1"/>
          <p:nvPr/>
        </p:nvSpPr>
        <p:spPr>
          <a:xfrm>
            <a:off x="7329948" y="1526384"/>
            <a:ext cx="4023852" cy="4678204"/>
          </a:xfrm>
          <a:prstGeom prst="rect">
            <a:avLst/>
          </a:prstGeom>
          <a:noFill/>
        </p:spPr>
        <p:txBody>
          <a:bodyPr wrap="square" rtlCol="0">
            <a:spAutoFit/>
          </a:bodyPr>
          <a:lstStyle/>
          <a:p>
            <a:pPr marL="285750" indent="-285750">
              <a:buFont typeface="Arial" panose="020B0604020202020204" pitchFamily="34" charset="0"/>
              <a:buChar char="•"/>
            </a:pPr>
            <a:r>
              <a:rPr lang="en-US" sz="1600" dirty="0"/>
              <a:t>In functions, flexibility is key, and Python supports the concept of handling an arbitrary number of arguments and keyword arguments through </a:t>
            </a:r>
            <a:r>
              <a:rPr lang="en-US" sz="1600" b="1" dirty="0"/>
              <a:t>*</a:t>
            </a:r>
            <a:r>
              <a:rPr lang="en-US" sz="1600" b="1" dirty="0" err="1"/>
              <a:t>args</a:t>
            </a:r>
            <a:r>
              <a:rPr lang="en-US" sz="1600" b="1" dirty="0"/>
              <a:t> </a:t>
            </a:r>
            <a:r>
              <a:rPr lang="en-US" sz="1600" dirty="0"/>
              <a:t>and </a:t>
            </a:r>
            <a:r>
              <a:rPr lang="en-US" sz="1600" b="1" dirty="0"/>
              <a:t>**</a:t>
            </a:r>
            <a:r>
              <a:rPr lang="en-US" sz="1600" b="1" dirty="0" err="1"/>
              <a:t>kwargs</a:t>
            </a:r>
            <a:r>
              <a:rPr lang="en-US" sz="1600" b="1"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With </a:t>
            </a:r>
            <a:r>
              <a:rPr lang="en-US" sz="1600" b="1" dirty="0"/>
              <a:t>*</a:t>
            </a:r>
            <a:r>
              <a:rPr lang="en-US" sz="1600" b="1" dirty="0" err="1"/>
              <a:t>args</a:t>
            </a:r>
            <a:r>
              <a:rPr lang="en-US" sz="1600" dirty="0"/>
              <a:t>, the function </a:t>
            </a:r>
            <a:r>
              <a:rPr lang="en-US" sz="1600" b="1" dirty="0" err="1"/>
              <a:t>network_status</a:t>
            </a:r>
            <a:r>
              <a:rPr lang="en-US" sz="1600" b="1" dirty="0"/>
              <a:t> </a:t>
            </a:r>
            <a:r>
              <a:rPr lang="en-US" sz="1600" dirty="0"/>
              <a:t>can accept an arbitrary number of devices, making it suitable for scenarios where the number of devices in the network is not fixed.</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dirty="0"/>
              <a:t>Using </a:t>
            </a:r>
            <a:r>
              <a:rPr lang="en-US" b="1" dirty="0"/>
              <a:t>**</a:t>
            </a:r>
            <a:r>
              <a:rPr lang="en-US" b="1" dirty="0" err="1"/>
              <a:t>kwargs</a:t>
            </a:r>
            <a:r>
              <a:rPr lang="en-US" dirty="0"/>
              <a:t>, the function </a:t>
            </a:r>
            <a:r>
              <a:rPr lang="en-US" b="1" dirty="0" err="1"/>
              <a:t>configure_device</a:t>
            </a:r>
            <a:r>
              <a:rPr lang="en-US" b="1" dirty="0"/>
              <a:t> </a:t>
            </a:r>
            <a:r>
              <a:rPr lang="en-US" dirty="0"/>
              <a:t>can handle an arbitrary number of keyword arguments, allowing for a more dynamic configuration approach.</a:t>
            </a:r>
            <a:endParaRPr lang="en-US" sz="1600" dirty="0"/>
          </a:p>
        </p:txBody>
      </p:sp>
      <p:pic>
        <p:nvPicPr>
          <p:cNvPr id="8" name="Picture 7">
            <a:extLst>
              <a:ext uri="{FF2B5EF4-FFF2-40B4-BE49-F238E27FC236}">
                <a16:creationId xmlns:a16="http://schemas.microsoft.com/office/drawing/2014/main" id="{CABB78CB-9AE6-E73A-1730-B30C92AEA014}"/>
              </a:ext>
            </a:extLst>
          </p:cNvPr>
          <p:cNvPicPr>
            <a:picLocks noChangeAspect="1"/>
          </p:cNvPicPr>
          <p:nvPr/>
        </p:nvPicPr>
        <p:blipFill>
          <a:blip r:embed="rId3"/>
          <a:stretch>
            <a:fillRect/>
          </a:stretch>
        </p:blipFill>
        <p:spPr>
          <a:xfrm>
            <a:off x="902110" y="4248917"/>
            <a:ext cx="6210300" cy="1457325"/>
          </a:xfrm>
          <a:prstGeom prst="rect">
            <a:avLst/>
          </a:prstGeom>
        </p:spPr>
      </p:pic>
    </p:spTree>
    <p:extLst>
      <p:ext uri="{BB962C8B-B14F-4D97-AF65-F5344CB8AC3E}">
        <p14:creationId xmlns:p14="http://schemas.microsoft.com/office/powerpoint/2010/main" val="3918784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Variables &amp; Data types</a:t>
            </a:r>
          </a:p>
          <a:p>
            <a:endParaRPr lang="en-US" dirty="0">
              <a:ea typeface="Calibri"/>
              <a:cs typeface="Calibri"/>
            </a:endParaRPr>
          </a:p>
          <a:p>
            <a:r>
              <a:rPr lang="en-US" dirty="0">
                <a:ea typeface="Calibri"/>
                <a:cs typeface="Calibri"/>
              </a:rPr>
              <a:t>Python Loops</a:t>
            </a:r>
          </a:p>
          <a:p>
            <a:pPr marL="0" indent="0">
              <a:buNone/>
            </a:pPr>
            <a:endParaRPr lang="en-US" dirty="0">
              <a:ea typeface="Calibri"/>
              <a:cs typeface="Calibri"/>
            </a:endParaRPr>
          </a:p>
          <a:p>
            <a:r>
              <a:rPr lang="en-US" dirty="0">
                <a:ea typeface="Calibri"/>
                <a:cs typeface="Calibri"/>
              </a:rPr>
              <a:t> Conditional Statements &amp; </a:t>
            </a:r>
            <a:r>
              <a:rPr lang="en-US">
                <a:ea typeface="Calibri"/>
                <a:cs typeface="Calibri"/>
              </a:rPr>
              <a:t>Python Collections</a:t>
            </a:r>
            <a:endParaRPr lang="en-US" dirty="0">
              <a:ea typeface="Calibri"/>
              <a:cs typeface="Calibri"/>
            </a:endParaRP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Override1.xml><?xml version="1.0" encoding="utf-8"?>
<a:themeOverride xmlns:a="http://schemas.openxmlformats.org/drawingml/2006/main">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2640</TotalTime>
  <Words>1214</Words>
  <Application>Microsoft Office PowerPoint</Application>
  <PresentationFormat>Widescreen</PresentationFormat>
  <Paragraphs>132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-apple-system</vt:lpstr>
      <vt:lpstr>Arial</vt:lpstr>
      <vt:lpstr>Calibri</vt:lpstr>
      <vt:lpstr>Calibri Light</vt:lpstr>
      <vt:lpstr>Segoe UI</vt:lpstr>
      <vt:lpstr>Wingdings</vt:lpstr>
      <vt:lpstr>Office 2013 - 2022 Theme</vt:lpstr>
      <vt:lpstr>Python Scripting with Network</vt:lpstr>
      <vt:lpstr>Agenda</vt:lpstr>
      <vt:lpstr>Python Lists</vt:lpstr>
      <vt:lpstr>Python Tuples</vt:lpstr>
      <vt:lpstr>Sets in Python</vt:lpstr>
      <vt:lpstr>Dictionaries in Python</vt:lpstr>
      <vt:lpstr>Nested Dictionaries in Python</vt:lpstr>
      <vt:lpstr>Conditional Statements in Python</vt:lpstr>
      <vt:lpstr>Truthy &amp; Falsy Values in Python</vt:lpstr>
      <vt:lpstr>Python Lists </vt:lpstr>
      <vt:lpstr>Tuples in Python</vt:lpstr>
      <vt:lpstr>Sets in Python</vt:lpstr>
      <vt:lpstr>Python Dictionaries for Network Engineers</vt:lpstr>
      <vt:lpstr>Python Files</vt:lpstr>
      <vt:lpstr>Python Exception Handling </vt:lpstr>
      <vt:lpstr>Python Classes </vt:lpstr>
      <vt:lpstr>Python Functions for Network Automation</vt:lpstr>
      <vt:lpstr>Python Functions Arguments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13</cp:revision>
  <dcterms:created xsi:type="dcterms:W3CDTF">2026-04-11T17:33:10Z</dcterms:created>
  <dcterms:modified xsi:type="dcterms:W3CDTF">2026-05-26T02:22:34Z</dcterms:modified>
</cp:coreProperties>
</file>