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3" r:id="rId2"/>
    <p:sldId id="257" r:id="rId3"/>
    <p:sldId id="293" r:id="rId4"/>
    <p:sldId id="294" r:id="rId5"/>
    <p:sldId id="271" r:id="rId6"/>
    <p:sldId id="292" r:id="rId7"/>
    <p:sldId id="295" r:id="rId8"/>
    <p:sldId id="296" r:id="rId9"/>
    <p:sldId id="297" r:id="rId10"/>
    <p:sldId id="298" r:id="rId11"/>
    <p:sldId id="28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94" autoAdjust="0"/>
    <p:restoredTop sz="94061" autoAdjust="0"/>
  </p:normalViewPr>
  <p:slideViewPr>
    <p:cSldViewPr snapToGrid="0">
      <p:cViewPr varScale="1">
        <p:scale>
          <a:sx n="65" d="100"/>
          <a:sy n="65" d="100"/>
        </p:scale>
        <p:origin x="822" y="78"/>
      </p:cViewPr>
      <p:guideLst/>
    </p:cSldViewPr>
  </p:slideViewPr>
  <p:outlineViewPr>
    <p:cViewPr>
      <p:scale>
        <a:sx n="33" d="100"/>
        <a:sy n="33" d="100"/>
      </p:scale>
      <p:origin x="0" y="-1656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2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52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33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0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6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6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2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4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re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urllib3.readthedocs.io/en/latest/reference/urllib3.connectionpool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json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670B7-BE47-7E35-0D27-0BAB2C56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219B7A-2A46-EAB6-DB28-580FA3519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2BC140-2EEB-8EEA-E87E-6A111266ED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66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Graphic 1">
            <a:extLst>
              <a:ext uri="{FF2B5EF4-FFF2-40B4-BE49-F238E27FC236}">
                <a16:creationId xmlns:a16="http://schemas.microsoft.com/office/drawing/2014/main" id="{83B80ED1-C27B-6D48-B5D8-A825BB88C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655438" y="838201"/>
            <a:ext cx="709816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9ED15-CDB1-785A-7695-72DF53472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24619"/>
            <a:ext cx="5541054" cy="1655378"/>
          </a:xfrm>
        </p:spPr>
        <p:txBody>
          <a:bodyPr>
            <a:normAutofit/>
          </a:bodyPr>
          <a:lstStyle/>
          <a:p>
            <a:r>
              <a:rPr lang="en-US" sz="3700" dirty="0"/>
              <a:t>Python Scripting with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7AC54-0FE9-0C64-0851-2225707E0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3668285"/>
            <a:ext cx="4431162" cy="13379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Day 7</a:t>
            </a:r>
          </a:p>
        </p:txBody>
      </p:sp>
    </p:spTree>
    <p:extLst>
      <p:ext uri="{BB962C8B-B14F-4D97-AF65-F5344CB8AC3E}">
        <p14:creationId xmlns:p14="http://schemas.microsoft.com/office/powerpoint/2010/main" val="200631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BB31E-A9BD-D8C3-F865-874E07BC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Agenda</a:t>
            </a:r>
          </a:p>
        </p:txBody>
      </p:sp>
      <p:pic>
        <p:nvPicPr>
          <p:cNvPr id="22" name="Picture 21" descr="Computer script on a screen">
            <a:extLst>
              <a:ext uri="{FF2B5EF4-FFF2-40B4-BE49-F238E27FC236}">
                <a16:creationId xmlns:a16="http://schemas.microsoft.com/office/drawing/2014/main" id="{E3E24C0B-1BDE-A4F0-4482-865C265ACB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8882D-3313-EA10-DF38-9C2AAE0C7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49756"/>
            <a:ext cx="6251110" cy="34407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Calibri" panose="020F0502020204030204"/>
                <a:cs typeface="Calibri" panose="020F0502020204030204"/>
              </a:rPr>
              <a:t>Python API for Network Automation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Python Advanced Functions 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Python Multithreading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Python Regular Expressions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REST API 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JSON API parsing with Python</a:t>
            </a:r>
          </a:p>
          <a:p>
            <a:endParaRPr lang="en-US" sz="2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9873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FEE7C-5BB8-6D04-74DD-923877D8E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Multithreading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D269E-6D26-627D-F622-C56146E2E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Python multithreading allows a program to run multiple tasks concurrently within a single process. It is primarily used to improve the efficiency of I/O-bound tasks (like downloading files or web scraping), where the program spends a lot of time waiting for external resources. </a:t>
            </a:r>
          </a:p>
          <a:p>
            <a:endParaRPr lang="en-US" sz="1800" dirty="0"/>
          </a:p>
          <a:p>
            <a:r>
              <a:rPr lang="en-US" sz="1800" b="1" dirty="0"/>
              <a:t>Concurrency, not true Parallelism</a:t>
            </a:r>
            <a:r>
              <a:rPr lang="en-US" sz="1800" dirty="0"/>
              <a:t>: Because of the GIL, multithreading doesn't speed up CPU-heavy math (CPU-bound tasks). Instead, it "switches" between threads very fast to hide latency during waiting periods.</a:t>
            </a:r>
          </a:p>
          <a:p>
            <a:endParaRPr lang="en-US" sz="1800" dirty="0"/>
          </a:p>
          <a:p>
            <a:r>
              <a:rPr lang="en-US" sz="1800" b="1" dirty="0"/>
              <a:t>Shared Memory</a:t>
            </a:r>
            <a:r>
              <a:rPr lang="en-US" sz="1800" dirty="0"/>
              <a:t>: Unlike separate processes, all threads in one program share the same memory space, making it easy to share data but requiring Locks to prevent data corruption.</a:t>
            </a:r>
          </a:p>
          <a:p>
            <a:endParaRPr lang="en-US" sz="1800" dirty="0"/>
          </a:p>
          <a:p>
            <a:r>
              <a:rPr lang="en-US" sz="1800" b="1" dirty="0"/>
              <a:t>Modern Update</a:t>
            </a:r>
            <a:r>
              <a:rPr lang="en-US" sz="1800" dirty="0"/>
              <a:t>: Newer versions like Python 3.13+ have introduced experimental "free-threaded" builds that can run without the GIL, allowing true parallel execution on multiple CPU cores.</a:t>
            </a:r>
          </a:p>
        </p:txBody>
      </p:sp>
    </p:spTree>
    <p:extLst>
      <p:ext uri="{BB962C8B-B14F-4D97-AF65-F5344CB8AC3E}">
        <p14:creationId xmlns:p14="http://schemas.microsoft.com/office/powerpoint/2010/main" val="356991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0BF8-7C52-B333-B473-06CA55CA3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Regular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75539-74C2-B131-11F9-10595E10A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In Python, regular expressions (regex) are handled through the </a:t>
            </a:r>
            <a:r>
              <a:rPr lang="en-US" sz="1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built-in re module</a:t>
            </a:r>
            <a:r>
              <a:rPr lang="en-US" sz="1800" dirty="0"/>
              <a:t>, which provides a powerful set of tools for searching, matching, and manipulating text strings based on specific patterns</a:t>
            </a:r>
          </a:p>
          <a:p>
            <a:r>
              <a:rPr lang="en-US" sz="1800" b="1" dirty="0" err="1"/>
              <a:t>re.search</a:t>
            </a:r>
            <a:r>
              <a:rPr lang="en-US" sz="1800" b="1" dirty="0"/>
              <a:t>():</a:t>
            </a:r>
            <a:r>
              <a:rPr lang="en-US" sz="1800" dirty="0"/>
              <a:t> Scans through a string and returns a match object for the first location where the pattern is found.</a:t>
            </a:r>
          </a:p>
          <a:p>
            <a:r>
              <a:rPr lang="en-US" sz="1800" b="1" dirty="0" err="1"/>
              <a:t>re.match</a:t>
            </a:r>
            <a:r>
              <a:rPr lang="en-US" sz="1800" b="1" dirty="0"/>
              <a:t>(): </a:t>
            </a:r>
            <a:r>
              <a:rPr lang="en-US" sz="1800" dirty="0"/>
              <a:t>Checks for a match only at the beginning of the string.</a:t>
            </a:r>
          </a:p>
          <a:p>
            <a:endParaRPr lang="en-US" sz="1800" dirty="0"/>
          </a:p>
          <a:p>
            <a:r>
              <a:rPr lang="en-US" sz="1800" b="1" dirty="0" err="1"/>
              <a:t>re.findall</a:t>
            </a:r>
            <a:r>
              <a:rPr lang="en-US" sz="1800" b="1" dirty="0"/>
              <a:t>(): </a:t>
            </a:r>
            <a:r>
              <a:rPr lang="en-US" sz="1800" dirty="0"/>
              <a:t>Returns a list of all non-overlapping matches of a pattern in the string.</a:t>
            </a:r>
          </a:p>
          <a:p>
            <a:endParaRPr lang="en-US" sz="1800" dirty="0"/>
          </a:p>
          <a:p>
            <a:r>
              <a:rPr lang="en-US" sz="1800" b="1" dirty="0" err="1"/>
              <a:t>re.sub</a:t>
            </a:r>
            <a:r>
              <a:rPr lang="en-US" sz="1800" b="1" dirty="0"/>
              <a:t>(): </a:t>
            </a:r>
            <a:r>
              <a:rPr lang="en-US" sz="1800" dirty="0"/>
              <a:t>Replaces occurrences of a pattern with a specified replacement string. </a:t>
            </a:r>
          </a:p>
          <a:p>
            <a:r>
              <a:rPr lang="en-US" sz="1800" b="1" dirty="0" err="1"/>
              <a:t>re.split</a:t>
            </a:r>
            <a:r>
              <a:rPr lang="en-US" sz="1800" b="1" dirty="0"/>
              <a:t>(): </a:t>
            </a:r>
            <a:r>
              <a:rPr lang="en-US" sz="1800" dirty="0"/>
              <a:t>Splits a string into a list wherever the pattern matches. </a:t>
            </a:r>
          </a:p>
          <a:p>
            <a:r>
              <a:rPr lang="en-US" sz="1800" b="1" dirty="0" err="1"/>
              <a:t>re.compile</a:t>
            </a:r>
            <a:r>
              <a:rPr lang="en-US" sz="1800" b="1" dirty="0"/>
              <a:t>(): </a:t>
            </a:r>
            <a:r>
              <a:rPr lang="en-US" sz="1800" dirty="0"/>
              <a:t>Compiles a regex pattern into a reusable pattern object, which is more efficient if the pattern is used multiple times. </a:t>
            </a:r>
          </a:p>
        </p:txBody>
      </p:sp>
    </p:spTree>
    <p:extLst>
      <p:ext uri="{BB962C8B-B14F-4D97-AF65-F5344CB8AC3E}">
        <p14:creationId xmlns:p14="http://schemas.microsoft.com/office/powerpoint/2010/main" val="2856633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40DBB-8006-D582-F717-BB20A1C1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/>
              <a:t>Overview of REST API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40B2CE4-B5CC-6B8A-D3D5-419D2DA6B1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7034" y="2194102"/>
            <a:ext cx="4438036" cy="3908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sz="2000" dirty="0"/>
              <a:t>Python is one of the most popular languages for building and interacting with REST (Representational State Transfer) APIs. These APIs act as a standardized contract between different software systems, allowing them to exchange data—usually in JSON format—over HTTP.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en-US" sz="2000" dirty="0"/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endParaRPr lang="en-US" alt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35509F-91A0-3F86-038F-A5A41AADE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610" y="2540554"/>
            <a:ext cx="4737650" cy="179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64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65C4C-D615-66B5-E98D-6CD5842E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API for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D81C3-A8CE-F648-94FD-A33BC2FE1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Working with JSON in Python typically involves two main tasks: parsing data from an external API or building your own API that serves JSON.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 err="1"/>
              <a:t>json.loads</a:t>
            </a:r>
            <a:r>
              <a:rPr lang="en-US" sz="2000" b="1" dirty="0"/>
              <a:t>(string): </a:t>
            </a:r>
            <a:r>
              <a:rPr lang="en-US" sz="2000" dirty="0"/>
              <a:t>Decodes a JSON-formatted string into a Python dictionary or list.</a:t>
            </a:r>
          </a:p>
          <a:p>
            <a:endParaRPr lang="en-US" sz="2000" dirty="0"/>
          </a:p>
          <a:p>
            <a:r>
              <a:rPr lang="en-US" sz="2000" b="1" dirty="0" err="1"/>
              <a:t>json.dumps</a:t>
            </a:r>
            <a:r>
              <a:rPr lang="en-US" sz="2000" b="1" dirty="0"/>
              <a:t>(obj): </a:t>
            </a:r>
            <a:r>
              <a:rPr lang="en-US" sz="2000" dirty="0"/>
              <a:t>Encodes a Python object into a JSON-formatted string (useful for sending data to an API).</a:t>
            </a:r>
          </a:p>
          <a:p>
            <a:endParaRPr lang="en-US" sz="2000" dirty="0"/>
          </a:p>
          <a:p>
            <a:r>
              <a:rPr lang="en-US" sz="2000" b="1" dirty="0" err="1"/>
              <a:t>json.load</a:t>
            </a:r>
            <a:r>
              <a:rPr lang="en-US" sz="2000" b="1" dirty="0"/>
              <a:t>(file) and </a:t>
            </a:r>
            <a:r>
              <a:rPr lang="en-US" sz="2000" b="1" dirty="0" err="1"/>
              <a:t>json.dump</a:t>
            </a:r>
            <a:r>
              <a:rPr lang="en-US" sz="2000" b="1" dirty="0"/>
              <a:t>(obj, file): </a:t>
            </a:r>
            <a:r>
              <a:rPr lang="en-US" sz="2000" dirty="0"/>
              <a:t>Used for reading from or writing directly to .</a:t>
            </a:r>
            <a:r>
              <a:rPr lang="en-US" sz="2000" dirty="0" err="1"/>
              <a:t>json</a:t>
            </a:r>
            <a:r>
              <a:rPr lang="en-US" sz="2000" dirty="0"/>
              <a:t> files</a:t>
            </a:r>
          </a:p>
        </p:txBody>
      </p:sp>
    </p:spTree>
    <p:extLst>
      <p:ext uri="{BB962C8B-B14F-4D97-AF65-F5344CB8AC3E}">
        <p14:creationId xmlns:p14="http://schemas.microsoft.com/office/powerpoint/2010/main" val="2428767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12A29-C420-F6C7-43D0-DC774B32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Requests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93877-5179-34CD-7DDD-34FABB0EB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Requests</a:t>
            </a:r>
            <a:r>
              <a:rPr lang="en-US" dirty="0"/>
              <a:t> </a:t>
            </a:r>
            <a:r>
              <a:rPr lang="en-US" sz="2000" dirty="0"/>
              <a:t>is an elegant and simple HTTP library for Python, built for human beings.</a:t>
            </a:r>
          </a:p>
          <a:p>
            <a:r>
              <a:rPr lang="en-US" sz="2000" dirty="0"/>
              <a:t>The Session object allows you to persist certain parameters across requests. It also persists cookies across all requests made from the Session instance and will use urllib3’s </a:t>
            </a:r>
            <a:r>
              <a:rPr 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connection pooling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r>
              <a:rPr lang="en-US" sz="2000" dirty="0"/>
              <a:t>So, if you’re making several requests to the same host, the underlying TCP connection will be reused, which can result in a significant performance increase. </a:t>
            </a:r>
          </a:p>
          <a:p>
            <a:endParaRPr lang="en-US" sz="2000" dirty="0"/>
          </a:p>
          <a:p>
            <a:r>
              <a:rPr lang="en-US" sz="2100" dirty="0"/>
              <a:t>Whenever a call is made to </a:t>
            </a:r>
            <a:r>
              <a:rPr lang="en-US" sz="2100" dirty="0" err="1"/>
              <a:t>requests.get</a:t>
            </a:r>
            <a:r>
              <a:rPr lang="en-US" sz="2100" dirty="0"/>
              <a:t>() and friends, you are doing two major things. First, you are constructing a Request object which will be sent off to a server to request or query some resource. </a:t>
            </a:r>
          </a:p>
          <a:p>
            <a:r>
              <a:rPr lang="en-US" sz="2100" dirty="0"/>
              <a:t>Second, a Response object is generated once Requests gets a response back from the server. The Response object contains all of the information returned by the server and also contains the Request object you created originally. </a:t>
            </a:r>
          </a:p>
        </p:txBody>
      </p:sp>
    </p:spTree>
    <p:extLst>
      <p:ext uri="{BB962C8B-B14F-4D97-AF65-F5344CB8AC3E}">
        <p14:creationId xmlns:p14="http://schemas.microsoft.com/office/powerpoint/2010/main" val="1969476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0482-3FE5-B16A-5B3E-2690F27C2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Uploads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7C268-FA06-61F0-516A-2715924E4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900" dirty="0"/>
              <a:t>Requests supports streaming uploads, which allow you to send large streams or files without reading them into memory. To stream and upload, simply provide a file-like object for your body:</a:t>
            </a:r>
          </a:p>
          <a:p>
            <a:pPr marL="0" indent="0">
              <a:buNone/>
            </a:pPr>
            <a:endParaRPr lang="en-US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927DDB-E68E-5B7F-8CE6-9DDE48967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009" y="2886075"/>
            <a:ext cx="4552950" cy="542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EC8C3B-3BD2-4945-0E11-DA5756D57CAE}"/>
              </a:ext>
            </a:extLst>
          </p:cNvPr>
          <p:cNvSpPr txBox="1"/>
          <p:nvPr/>
        </p:nvSpPr>
        <p:spPr>
          <a:xfrm>
            <a:off x="838200" y="3601845"/>
            <a:ext cx="995516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/>
              <a:t>You can send multiple files in one request. For example, suppose you want to upload image files to an HTML form with a multiple file field ‘images’: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5000D1-7F7D-12E9-B621-2B6A5D3DD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322" y="4411099"/>
            <a:ext cx="67627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870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1D942-FC58-967A-6036-8D60480E0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JSON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59433-71B5-3F71-A46A-4BCFD6B6F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900" dirty="0"/>
              <a:t>The Python </a:t>
            </a:r>
            <a:r>
              <a:rPr lang="en-US" sz="19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r>
              <a:rPr lang="en-US" sz="19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module</a:t>
            </a:r>
            <a:r>
              <a:rPr lang="en-US" sz="1900" dirty="0"/>
              <a:t> is a built-in standard library tool used for parsing, serializing, and deserializing JSON (JavaScript Object Notation) data. It allows you to convert Python data structures into JSON strings or files, and vice versa. </a:t>
            </a:r>
          </a:p>
          <a:p>
            <a:endParaRPr lang="en-US" sz="1900" dirty="0"/>
          </a:p>
          <a:p>
            <a:r>
              <a:rPr lang="en-US" sz="1900" dirty="0"/>
              <a:t>The module revolves around four primary functions, categorized by whether you are interacting with strings or files. </a:t>
            </a:r>
          </a:p>
          <a:p>
            <a:r>
              <a:rPr lang="en-US" sz="1900" dirty="0" err="1"/>
              <a:t>json.dumps</a:t>
            </a:r>
            <a:r>
              <a:rPr lang="en-US" sz="1900" dirty="0"/>
              <a:t>(obj): Converts a Python object into a JSON-formatted string.</a:t>
            </a:r>
          </a:p>
          <a:p>
            <a:r>
              <a:rPr lang="en-US" sz="1900" dirty="0" err="1"/>
              <a:t>json.dump</a:t>
            </a:r>
            <a:r>
              <a:rPr lang="en-US" sz="1900" dirty="0"/>
              <a:t>(obj, </a:t>
            </a:r>
            <a:r>
              <a:rPr lang="en-US" sz="1900" dirty="0" err="1"/>
              <a:t>fp</a:t>
            </a:r>
            <a:r>
              <a:rPr lang="en-US" sz="1900" dirty="0"/>
              <a:t>): Serializes a Python object directly into a file. </a:t>
            </a:r>
          </a:p>
          <a:p>
            <a:r>
              <a:rPr lang="en-US" sz="1900" dirty="0" err="1"/>
              <a:t>json.loads</a:t>
            </a:r>
            <a:r>
              <a:rPr lang="en-US" sz="1900" dirty="0"/>
              <a:t>(s): Parses a JSON-formatted string back into a Python object.</a:t>
            </a:r>
          </a:p>
          <a:p>
            <a:r>
              <a:rPr lang="en-US" sz="1900" dirty="0" err="1"/>
              <a:t>json.load</a:t>
            </a:r>
            <a:r>
              <a:rPr lang="en-US" sz="1900" dirty="0"/>
              <a:t>(</a:t>
            </a:r>
            <a:r>
              <a:rPr lang="en-US" sz="1900" dirty="0" err="1"/>
              <a:t>fp</a:t>
            </a:r>
            <a:r>
              <a:rPr lang="en-US" sz="1900" dirty="0"/>
              <a:t>): Reads and deserializes a JSON file directly into a Python object.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716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AC98-2402-D2B1-FB36-65AF8D66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ncclient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AF50F-E2C9-CEE5-1847-8EB1C708F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900" dirty="0"/>
              <a:t>In Python's ncclient library (a popular NETCONF client), "type" usually refers to the </a:t>
            </a:r>
            <a:r>
              <a:rPr lang="en-US" sz="1900" dirty="0" err="1"/>
              <a:t>device_params</a:t>
            </a:r>
            <a:r>
              <a:rPr lang="en-US" sz="1900" dirty="0"/>
              <a:t> argument used during connection, or the data type formats used in NETCONF RPCs (like XML).</a:t>
            </a:r>
          </a:p>
          <a:p>
            <a:endParaRPr lang="en-US" sz="1900" dirty="0"/>
          </a:p>
          <a:p>
            <a:r>
              <a:rPr lang="en-US" sz="1900" dirty="0"/>
              <a:t>When establishing a connection, you must pass a </a:t>
            </a:r>
            <a:r>
              <a:rPr lang="en-US" sz="1900" dirty="0" err="1"/>
              <a:t>device_params</a:t>
            </a:r>
            <a:r>
              <a:rPr lang="en-US" sz="1900" dirty="0"/>
              <a:t> dictionary to the </a:t>
            </a:r>
            <a:r>
              <a:rPr lang="en-US" sz="1900" dirty="0" err="1"/>
              <a:t>manager.connect</a:t>
            </a:r>
            <a:r>
              <a:rPr lang="en-US" sz="1900" dirty="0"/>
              <a:t>() method. This tells ncclient how to format commands for your specific networking vendor. </a:t>
            </a:r>
          </a:p>
          <a:p>
            <a:endParaRPr lang="en-US" sz="1900" dirty="0"/>
          </a:p>
          <a:p>
            <a:r>
              <a:rPr lang="en-US" sz="1900" dirty="0"/>
              <a:t>Common device types – </a:t>
            </a:r>
          </a:p>
          <a:p>
            <a:r>
              <a:rPr lang="en-US" sz="1900" dirty="0" err="1"/>
              <a:t>csr</a:t>
            </a:r>
            <a:r>
              <a:rPr lang="en-US" sz="1900" dirty="0"/>
              <a:t> or </a:t>
            </a:r>
            <a:r>
              <a:rPr lang="en-US" sz="1900" dirty="0" err="1"/>
              <a:t>iosxe</a:t>
            </a:r>
            <a:r>
              <a:rPr lang="en-US" sz="1900" dirty="0"/>
              <a:t> (Cisco IOS-XE)</a:t>
            </a:r>
          </a:p>
          <a:p>
            <a:r>
              <a:rPr lang="en-US" sz="1900" dirty="0"/>
              <a:t>Nexus (Cisco NX-OS)</a:t>
            </a:r>
          </a:p>
          <a:p>
            <a:r>
              <a:rPr lang="en-US" sz="1900" dirty="0"/>
              <a:t>Junos (Juniper) </a:t>
            </a:r>
          </a:p>
          <a:p>
            <a:r>
              <a:rPr lang="en-US" sz="1900" dirty="0" err="1"/>
              <a:t>iosxr</a:t>
            </a:r>
            <a:r>
              <a:rPr lang="en-US" sz="1900" dirty="0"/>
              <a:t> (Cisco IOS-XR)</a:t>
            </a:r>
          </a:p>
          <a:p>
            <a:r>
              <a:rPr lang="en-US" sz="1900" dirty="0"/>
              <a:t>Default NETCONF</a:t>
            </a:r>
          </a:p>
        </p:txBody>
      </p:sp>
    </p:spTree>
    <p:extLst>
      <p:ext uri="{BB962C8B-B14F-4D97-AF65-F5344CB8AC3E}">
        <p14:creationId xmlns:p14="http://schemas.microsoft.com/office/powerpoint/2010/main" val="1400522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950E-C0A1-C9BF-2502-54EA9A09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Wrap Up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2360-20AC-B4B9-E6D4-F21EB8C73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Python Automation for Network engineering 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Python Network Libraries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Python Modules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 Python Lambda Functions</a:t>
            </a:r>
          </a:p>
        </p:txBody>
      </p:sp>
    </p:spTree>
    <p:extLst>
      <p:ext uri="{BB962C8B-B14F-4D97-AF65-F5344CB8AC3E}">
        <p14:creationId xmlns:p14="http://schemas.microsoft.com/office/powerpoint/2010/main" val="81615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2013 - 2022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2994</TotalTime>
  <Words>957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2013 - 2022 Theme</vt:lpstr>
      <vt:lpstr>Python Scripting with Network</vt:lpstr>
      <vt:lpstr>Agenda</vt:lpstr>
      <vt:lpstr>Python Multithreading</vt:lpstr>
      <vt:lpstr>Python Regular Expressions</vt:lpstr>
      <vt:lpstr>Overview of REST API</vt:lpstr>
      <vt:lpstr>JSON API for Python</vt:lpstr>
      <vt:lpstr>Python Requests module</vt:lpstr>
      <vt:lpstr>Stream Uploads </vt:lpstr>
      <vt:lpstr>Python JSON Library</vt:lpstr>
      <vt:lpstr>Python ncclient library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Anindita Basak</dc:creator>
  <cp:lastModifiedBy>Anindita Basak</cp:lastModifiedBy>
  <cp:revision>39</cp:revision>
  <dcterms:created xsi:type="dcterms:W3CDTF">2026-04-11T17:33:10Z</dcterms:created>
  <dcterms:modified xsi:type="dcterms:W3CDTF">2026-05-30T17:25:41Z</dcterms:modified>
</cp:coreProperties>
</file>